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Old Standard TT"/>
      <p:regular r:id="rId25"/>
      <p:bold r:id="rId26"/>
      <p:italic r:id="rId27"/>
    </p:embeddedFon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ldStandardTT-bold.fntdata"/><Relationship Id="rId25" Type="http://schemas.openxmlformats.org/officeDocument/2006/relationships/font" Target="fonts/OldStandardTT-regular.fntdata"/><Relationship Id="rId28" Type="http://schemas.openxmlformats.org/officeDocument/2006/relationships/font" Target="fonts/RobotoMono-regular.fntdata"/><Relationship Id="rId27" Type="http://schemas.openxmlformats.org/officeDocument/2006/relationships/font" Target="fonts/OldStandardT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bad33db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bad33db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bad33dbee_0_1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bad33dbee_0_1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bad33dbee_0_1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bad33dbee_0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bad33dbe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bad33dbe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bad33dbe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bad33dbe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cf7cc9ba1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cf7cc9ba1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bad33dbe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bad33dbe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cf7cc9ba1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cf7cc9ba1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bad33dbe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bad33dbe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14800a59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14800a59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cb02d22a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cb02d22a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bad33dbe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bad33dbe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c898ceeb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c898ceeb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c898ceeb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c898ceeb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c898ceeb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c898ceeb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c898ceeb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c898ceeb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bad33dbe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bad33dbe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bad33dbee_0_1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bad33dbee_0_1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59400" y="99475"/>
            <a:ext cx="8520600" cy="39717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Clr>
                <a:schemeClr val="dk1"/>
              </a:buClr>
              <a:buSzPct val="100000"/>
              <a:buFont typeface="Arial"/>
              <a:buNone/>
            </a:pPr>
            <a:r>
              <a:rPr lang="en" sz="1100"/>
              <a:t> </a:t>
            </a:r>
            <a:endParaRPr sz="1100"/>
          </a:p>
          <a:p>
            <a:pPr indent="0" lvl="0" marL="0" marR="381000" rtl="0" algn="l">
              <a:lnSpc>
                <a:spcPct val="115000"/>
              </a:lnSpc>
              <a:spcBef>
                <a:spcPts val="1200"/>
              </a:spcBef>
              <a:spcAft>
                <a:spcPts val="0"/>
              </a:spcAft>
              <a:buClr>
                <a:schemeClr val="dk1"/>
              </a:buClr>
              <a:buSzPct val="51030"/>
              <a:buFont typeface="Arial"/>
              <a:buNone/>
            </a:pPr>
            <a:r>
              <a:rPr lang="en" sz="2155"/>
              <a:t>Flight Delay Prediction and Analysis Across U.S. Airports</a:t>
            </a:r>
            <a:endParaRPr sz="2155"/>
          </a:p>
          <a:p>
            <a:pPr indent="0" lvl="0" marL="0" rtl="0" algn="l">
              <a:lnSpc>
                <a:spcPct val="115000"/>
              </a:lnSpc>
              <a:spcBef>
                <a:spcPts val="1200"/>
              </a:spcBef>
              <a:spcAft>
                <a:spcPts val="0"/>
              </a:spcAft>
              <a:buClr>
                <a:schemeClr val="dk1"/>
              </a:buClr>
              <a:buSzPct val="100000"/>
              <a:buFont typeface="Arial"/>
              <a:buNone/>
            </a:pPr>
            <a:r>
              <a:t/>
            </a:r>
            <a:endParaRPr sz="1100"/>
          </a:p>
          <a:p>
            <a:pPr indent="0" lvl="0" marL="0" rtl="0" algn="l">
              <a:lnSpc>
                <a:spcPct val="115000"/>
              </a:lnSpc>
              <a:spcBef>
                <a:spcPts val="0"/>
              </a:spcBef>
              <a:spcAft>
                <a:spcPts val="0"/>
              </a:spcAft>
              <a:buNone/>
            </a:pPr>
            <a:r>
              <a:t/>
            </a:r>
            <a:endParaRPr sz="1433"/>
          </a:p>
          <a:p>
            <a:pPr indent="0" lvl="0" marL="0" rtl="0" algn="l">
              <a:lnSpc>
                <a:spcPct val="115000"/>
              </a:lnSpc>
              <a:spcBef>
                <a:spcPts val="0"/>
              </a:spcBef>
              <a:spcAft>
                <a:spcPts val="0"/>
              </a:spcAft>
              <a:buNone/>
            </a:pPr>
            <a:r>
              <a:rPr lang="en" sz="1433"/>
              <a:t>Comp 333  Dr. Essam Mansour</a:t>
            </a:r>
            <a:endParaRPr sz="1433"/>
          </a:p>
          <a:p>
            <a:pPr indent="0" lvl="0" marL="0" rtl="0" algn="l">
              <a:lnSpc>
                <a:spcPct val="115000"/>
              </a:lnSpc>
              <a:spcBef>
                <a:spcPts val="0"/>
              </a:spcBef>
              <a:spcAft>
                <a:spcPts val="0"/>
              </a:spcAft>
              <a:buClr>
                <a:schemeClr val="dk1"/>
              </a:buClr>
              <a:buSzPct val="76744"/>
              <a:buFont typeface="Arial"/>
              <a:buNone/>
            </a:pPr>
            <a:r>
              <a:rPr lang="en" sz="1433"/>
              <a:t>Fall 2025</a:t>
            </a:r>
            <a:endParaRPr sz="1433"/>
          </a:p>
          <a:p>
            <a:pPr indent="0" lvl="0" marL="0" rtl="0" algn="l">
              <a:lnSpc>
                <a:spcPct val="115000"/>
              </a:lnSpc>
              <a:spcBef>
                <a:spcPts val="0"/>
              </a:spcBef>
              <a:spcAft>
                <a:spcPts val="0"/>
              </a:spcAft>
              <a:buClr>
                <a:schemeClr val="dk1"/>
              </a:buClr>
              <a:buSzPct val="76744"/>
              <a:buFont typeface="Arial"/>
              <a:buNone/>
            </a:pPr>
            <a:r>
              <a:rPr lang="en" sz="1433"/>
              <a:t>Group project Final Phase </a:t>
            </a:r>
            <a:endParaRPr sz="1433"/>
          </a:p>
          <a:p>
            <a:pPr indent="0" lvl="0" marL="0" rtl="0" algn="l">
              <a:lnSpc>
                <a:spcPct val="115000"/>
              </a:lnSpc>
              <a:spcBef>
                <a:spcPts val="0"/>
              </a:spcBef>
              <a:spcAft>
                <a:spcPts val="0"/>
              </a:spcAft>
              <a:buNone/>
            </a:pPr>
            <a:r>
              <a:rPr lang="en" sz="1433"/>
              <a:t>Deadline December 3rd</a:t>
            </a:r>
            <a:endParaRPr sz="1433"/>
          </a:p>
          <a:p>
            <a:pPr indent="0" lvl="0" marL="0" rtl="0" algn="l">
              <a:lnSpc>
                <a:spcPct val="115000"/>
              </a:lnSpc>
              <a:spcBef>
                <a:spcPts val="0"/>
              </a:spcBef>
              <a:spcAft>
                <a:spcPts val="0"/>
              </a:spcAft>
              <a:buNone/>
            </a:pPr>
            <a:r>
              <a:t/>
            </a:r>
            <a:endParaRPr sz="1433"/>
          </a:p>
          <a:p>
            <a:pPr indent="0" lvl="0" marL="0" rtl="0" algn="l">
              <a:spcBef>
                <a:spcPts val="0"/>
              </a:spcBef>
              <a:spcAft>
                <a:spcPts val="0"/>
              </a:spcAft>
              <a:buNone/>
            </a:pPr>
            <a:r>
              <a:t/>
            </a:r>
            <a:endParaRPr b="1" sz="1300">
              <a:solidFill>
                <a:schemeClr val="dk2"/>
              </a:solidFill>
            </a:endParaRPr>
          </a:p>
          <a:p>
            <a:pPr indent="0" lvl="0" marL="0" rtl="0" algn="l">
              <a:spcBef>
                <a:spcPts val="0"/>
              </a:spcBef>
              <a:spcAft>
                <a:spcPts val="0"/>
              </a:spcAft>
              <a:buNone/>
            </a:pPr>
            <a:r>
              <a:rPr b="1" lang="en" sz="1300">
                <a:solidFill>
                  <a:schemeClr val="dk2"/>
                </a:solidFill>
              </a:rPr>
              <a:t>By DataMinds </a:t>
            </a:r>
            <a:r>
              <a:rPr b="1" lang="en" sz="1300"/>
              <a:t>Team members: Joel Mwamba, Karim Mikhaeil, Omar Sarayrah, Kabeya Ngoyi, Mohammed Al-Khateeb</a:t>
            </a:r>
            <a:endParaRPr b="1" sz="1300"/>
          </a:p>
          <a:p>
            <a:pPr indent="0" lvl="0" marL="0" rtl="0" algn="l">
              <a:lnSpc>
                <a:spcPct val="115000"/>
              </a:lnSpc>
              <a:spcBef>
                <a:spcPts val="0"/>
              </a:spcBef>
              <a:spcAft>
                <a:spcPts val="0"/>
              </a:spcAft>
              <a:buClr>
                <a:schemeClr val="dk1"/>
              </a:buClr>
              <a:buSzPct val="76744"/>
              <a:buFont typeface="Arial"/>
              <a:buNone/>
            </a:pPr>
            <a:r>
              <a:t/>
            </a:r>
            <a:endParaRPr sz="1433"/>
          </a:p>
          <a:p>
            <a:pPr indent="0" lvl="0" marL="0" rtl="0" algn="l">
              <a:spcBef>
                <a:spcPts val="0"/>
              </a:spcBef>
              <a:spcAft>
                <a:spcPts val="0"/>
              </a:spcAft>
              <a:buNone/>
            </a:pPr>
            <a:r>
              <a:t/>
            </a:r>
            <a:endParaRPr/>
          </a:p>
        </p:txBody>
      </p:sp>
      <p:sp>
        <p:nvSpPr>
          <p:cNvPr id="60" name="Google Shape;60;p13"/>
          <p:cNvSpPr txBox="1"/>
          <p:nvPr>
            <p:ph idx="1" type="subTitle"/>
          </p:nvPr>
        </p:nvSpPr>
        <p:spPr>
          <a:xfrm>
            <a:off x="311700" y="3454075"/>
            <a:ext cx="8520600" cy="792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 </a:t>
            </a:r>
            <a:br>
              <a:rPr lang="en"/>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380">
                <a:solidFill>
                  <a:srgbClr val="212529"/>
                </a:solidFill>
                <a:highlight>
                  <a:srgbClr val="F8F9FA"/>
                </a:highlight>
              </a:rPr>
              <a:t>Topic and defined ML tasks</a:t>
            </a:r>
            <a:br>
              <a:rPr lang="en" sz="1380">
                <a:solidFill>
                  <a:srgbClr val="212529"/>
                </a:solidFill>
                <a:highlight>
                  <a:srgbClr val="F8F9FA"/>
                </a:highlight>
              </a:rPr>
            </a:br>
            <a:r>
              <a:rPr b="1" lang="en" sz="1290">
                <a:latin typeface="Arial"/>
                <a:ea typeface="Arial"/>
                <a:cs typeface="Arial"/>
                <a:sym typeface="Arial"/>
              </a:rPr>
              <a:t>Flight Delay Prediction and Analysis Across U.S. Airports</a:t>
            </a:r>
            <a:endParaRPr b="1" sz="1290">
              <a:latin typeface="Arial"/>
              <a:ea typeface="Arial"/>
              <a:cs typeface="Arial"/>
              <a:sym typeface="Arial"/>
            </a:endParaRPr>
          </a:p>
          <a:p>
            <a:pPr indent="0" lvl="0" marL="0" rtl="0" algn="l">
              <a:spcBef>
                <a:spcPts val="0"/>
              </a:spcBef>
              <a:spcAft>
                <a:spcPts val="0"/>
              </a:spcAft>
              <a:buSzPts val="990"/>
              <a:buNone/>
            </a:pPr>
            <a:r>
              <a:t/>
            </a:r>
            <a:endParaRPr sz="1080">
              <a:solidFill>
                <a:srgbClr val="212529"/>
              </a:solidFill>
              <a:highlight>
                <a:srgbClr val="F8F9FA"/>
              </a:highlight>
            </a:endParaRPr>
          </a:p>
        </p:txBody>
      </p:sp>
      <p:sp>
        <p:nvSpPr>
          <p:cNvPr id="66" name="Google Shape;66;p14"/>
          <p:cNvSpPr txBox="1"/>
          <p:nvPr>
            <p:ph idx="1" type="body"/>
          </p:nvPr>
        </p:nvSpPr>
        <p:spPr>
          <a:xfrm>
            <a:off x="66425" y="932150"/>
            <a:ext cx="5770200" cy="38817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688"/>
              <a:buFont typeface="Arial"/>
              <a:buNone/>
            </a:pPr>
            <a:r>
              <a:rPr b="1" lang="en" sz="787">
                <a:latin typeface="Arial"/>
                <a:ea typeface="Arial"/>
                <a:cs typeface="Arial"/>
                <a:sym typeface="Arial"/>
              </a:rPr>
              <a:t>Topic:</a:t>
            </a:r>
            <a:br>
              <a:rPr b="1" lang="en" sz="787">
                <a:latin typeface="Arial"/>
                <a:ea typeface="Arial"/>
                <a:cs typeface="Arial"/>
                <a:sym typeface="Arial"/>
              </a:rPr>
            </a:br>
            <a:r>
              <a:rPr lang="en" sz="787">
                <a:latin typeface="Arial"/>
                <a:ea typeface="Arial"/>
                <a:cs typeface="Arial"/>
                <a:sym typeface="Arial"/>
              </a:rPr>
              <a:t> Predicting flight delays using historical U.S. flight-performance data.</a:t>
            </a:r>
            <a:endParaRPr sz="787">
              <a:latin typeface="Arial"/>
              <a:ea typeface="Arial"/>
              <a:cs typeface="Arial"/>
              <a:sym typeface="Arial"/>
            </a:endParaRPr>
          </a:p>
          <a:p>
            <a:pPr indent="0" lvl="0" marL="0" rtl="0" algn="l">
              <a:lnSpc>
                <a:spcPct val="95000"/>
              </a:lnSpc>
              <a:spcBef>
                <a:spcPts val="1200"/>
              </a:spcBef>
              <a:spcAft>
                <a:spcPts val="0"/>
              </a:spcAft>
              <a:buClr>
                <a:schemeClr val="dk1"/>
              </a:buClr>
              <a:buSzPts val="688"/>
              <a:buFont typeface="Arial"/>
              <a:buNone/>
            </a:pPr>
            <a:r>
              <a:rPr b="1" lang="en" sz="787">
                <a:latin typeface="Arial"/>
                <a:ea typeface="Arial"/>
                <a:cs typeface="Arial"/>
                <a:sym typeface="Arial"/>
              </a:rPr>
              <a:t>Goal of the Project:</a:t>
            </a:r>
            <a:br>
              <a:rPr b="1" lang="en" sz="787">
                <a:latin typeface="Arial"/>
                <a:ea typeface="Arial"/>
                <a:cs typeface="Arial"/>
                <a:sym typeface="Arial"/>
              </a:rPr>
            </a:br>
            <a:r>
              <a:rPr lang="en" sz="787">
                <a:latin typeface="Arial"/>
                <a:ea typeface="Arial"/>
                <a:cs typeface="Arial"/>
                <a:sym typeface="Arial"/>
              </a:rPr>
              <a:t> To determine whether a flight is likely to be </a:t>
            </a:r>
            <a:r>
              <a:rPr b="1" lang="en" sz="787">
                <a:latin typeface="Arial"/>
                <a:ea typeface="Arial"/>
                <a:cs typeface="Arial"/>
                <a:sym typeface="Arial"/>
              </a:rPr>
              <a:t>Delayed (1)</a:t>
            </a:r>
            <a:r>
              <a:rPr lang="en" sz="787">
                <a:latin typeface="Arial"/>
                <a:ea typeface="Arial"/>
                <a:cs typeface="Arial"/>
                <a:sym typeface="Arial"/>
              </a:rPr>
              <a:t> or </a:t>
            </a:r>
            <a:r>
              <a:rPr b="1" lang="en" sz="787">
                <a:latin typeface="Arial"/>
                <a:ea typeface="Arial"/>
                <a:cs typeface="Arial"/>
                <a:sym typeface="Arial"/>
              </a:rPr>
              <a:t>On Time (0)</a:t>
            </a:r>
            <a:r>
              <a:rPr lang="en" sz="787">
                <a:latin typeface="Arial"/>
                <a:ea typeface="Arial"/>
                <a:cs typeface="Arial"/>
                <a:sym typeface="Arial"/>
              </a:rPr>
              <a:t> based on airport information, airline, time-related features, </a:t>
            </a:r>
            <a:br>
              <a:rPr lang="en" sz="787">
                <a:latin typeface="Arial"/>
                <a:ea typeface="Arial"/>
                <a:cs typeface="Arial"/>
                <a:sym typeface="Arial"/>
              </a:rPr>
            </a:br>
            <a:r>
              <a:rPr lang="en" sz="787">
                <a:latin typeface="Arial"/>
                <a:ea typeface="Arial"/>
                <a:cs typeface="Arial"/>
                <a:sym typeface="Arial"/>
              </a:rPr>
              <a:t> and different delay-cause values.</a:t>
            </a:r>
            <a:endParaRPr sz="787">
              <a:latin typeface="Arial"/>
              <a:ea typeface="Arial"/>
              <a:cs typeface="Arial"/>
              <a:sym typeface="Arial"/>
            </a:endParaRPr>
          </a:p>
          <a:p>
            <a:pPr indent="0" lvl="0" marL="0" rtl="0" algn="l">
              <a:lnSpc>
                <a:spcPct val="95000"/>
              </a:lnSpc>
              <a:spcBef>
                <a:spcPts val="1200"/>
              </a:spcBef>
              <a:spcAft>
                <a:spcPts val="0"/>
              </a:spcAft>
              <a:buClr>
                <a:schemeClr val="dk1"/>
              </a:buClr>
              <a:buSzPts val="688"/>
              <a:buFont typeface="Arial"/>
              <a:buNone/>
            </a:pPr>
            <a:r>
              <a:rPr b="1" lang="en" sz="787">
                <a:latin typeface="Arial"/>
                <a:ea typeface="Arial"/>
                <a:cs typeface="Arial"/>
                <a:sym typeface="Arial"/>
              </a:rPr>
              <a:t>Machine Learning Task:</a:t>
            </a:r>
            <a:br>
              <a:rPr b="1" lang="en" sz="787">
                <a:latin typeface="Arial"/>
                <a:ea typeface="Arial"/>
                <a:cs typeface="Arial"/>
                <a:sym typeface="Arial"/>
              </a:rPr>
            </a:br>
            <a:r>
              <a:rPr lang="en" sz="787">
                <a:latin typeface="Arial"/>
                <a:ea typeface="Arial"/>
                <a:cs typeface="Arial"/>
                <a:sym typeface="Arial"/>
              </a:rPr>
              <a:t> This is a </a:t>
            </a:r>
            <a:r>
              <a:rPr b="1" lang="en" sz="787">
                <a:latin typeface="Arial"/>
                <a:ea typeface="Arial"/>
                <a:cs typeface="Arial"/>
                <a:sym typeface="Arial"/>
              </a:rPr>
              <a:t>classification task</a:t>
            </a:r>
            <a:r>
              <a:rPr lang="en" sz="787">
                <a:latin typeface="Arial"/>
                <a:ea typeface="Arial"/>
                <a:cs typeface="Arial"/>
                <a:sym typeface="Arial"/>
              </a:rPr>
              <a:t>, since the model predicts one of two categories:</a:t>
            </a:r>
            <a:endParaRPr sz="787">
              <a:latin typeface="Arial"/>
              <a:ea typeface="Arial"/>
              <a:cs typeface="Arial"/>
              <a:sym typeface="Arial"/>
            </a:endParaRPr>
          </a:p>
          <a:p>
            <a:pPr indent="-278606" lvl="0" marL="457200" rtl="0" algn="l">
              <a:lnSpc>
                <a:spcPct val="95000"/>
              </a:lnSpc>
              <a:spcBef>
                <a:spcPts val="1200"/>
              </a:spcBef>
              <a:spcAft>
                <a:spcPts val="0"/>
              </a:spcAft>
              <a:buSzPts val="788"/>
              <a:buFont typeface="Arial"/>
              <a:buChar char="●"/>
            </a:pPr>
            <a:r>
              <a:rPr b="1" lang="en" sz="787">
                <a:latin typeface="Arial"/>
                <a:ea typeface="Arial"/>
                <a:cs typeface="Arial"/>
                <a:sym typeface="Arial"/>
              </a:rPr>
              <a:t>Delayed</a:t>
            </a:r>
            <a:br>
              <a:rPr b="1" lang="en" sz="787">
                <a:latin typeface="Arial"/>
                <a:ea typeface="Arial"/>
                <a:cs typeface="Arial"/>
                <a:sym typeface="Arial"/>
              </a:rPr>
            </a:br>
            <a:endParaRPr b="1" sz="787">
              <a:latin typeface="Arial"/>
              <a:ea typeface="Arial"/>
              <a:cs typeface="Arial"/>
              <a:sym typeface="Arial"/>
            </a:endParaRPr>
          </a:p>
          <a:p>
            <a:pPr indent="-278606" lvl="0" marL="457200" rtl="0" algn="l">
              <a:lnSpc>
                <a:spcPct val="95000"/>
              </a:lnSpc>
              <a:spcBef>
                <a:spcPts val="0"/>
              </a:spcBef>
              <a:spcAft>
                <a:spcPts val="0"/>
              </a:spcAft>
              <a:buSzPts val="788"/>
              <a:buFont typeface="Arial"/>
              <a:buChar char="●"/>
            </a:pPr>
            <a:r>
              <a:rPr b="1" lang="en" sz="787">
                <a:latin typeface="Arial"/>
                <a:ea typeface="Arial"/>
                <a:cs typeface="Arial"/>
                <a:sym typeface="Arial"/>
              </a:rPr>
              <a:t>On Time</a:t>
            </a:r>
            <a:br>
              <a:rPr b="1" lang="en" sz="787">
                <a:latin typeface="Arial"/>
                <a:ea typeface="Arial"/>
                <a:cs typeface="Arial"/>
                <a:sym typeface="Arial"/>
              </a:rPr>
            </a:br>
            <a:endParaRPr b="1" sz="787">
              <a:latin typeface="Arial"/>
              <a:ea typeface="Arial"/>
              <a:cs typeface="Arial"/>
              <a:sym typeface="Arial"/>
            </a:endParaRPr>
          </a:p>
          <a:p>
            <a:pPr indent="0" lvl="0" marL="0" rtl="0" algn="l">
              <a:lnSpc>
                <a:spcPct val="95000"/>
              </a:lnSpc>
              <a:spcBef>
                <a:spcPts val="1200"/>
              </a:spcBef>
              <a:spcAft>
                <a:spcPts val="0"/>
              </a:spcAft>
              <a:buClr>
                <a:schemeClr val="dk1"/>
              </a:buClr>
              <a:buSzPts val="688"/>
              <a:buFont typeface="Arial"/>
              <a:buNone/>
            </a:pPr>
            <a:r>
              <a:rPr b="1" lang="en" sz="787">
                <a:latin typeface="Arial"/>
                <a:ea typeface="Arial"/>
                <a:cs typeface="Arial"/>
                <a:sym typeface="Arial"/>
              </a:rPr>
              <a:t>What We Are Looking For:</a:t>
            </a:r>
            <a:endParaRPr b="1" sz="787">
              <a:latin typeface="Arial"/>
              <a:ea typeface="Arial"/>
              <a:cs typeface="Arial"/>
              <a:sym typeface="Arial"/>
            </a:endParaRPr>
          </a:p>
          <a:p>
            <a:pPr indent="-278606" lvl="0" marL="457200" rtl="0" algn="l">
              <a:lnSpc>
                <a:spcPct val="95000"/>
              </a:lnSpc>
              <a:spcBef>
                <a:spcPts val="1200"/>
              </a:spcBef>
              <a:spcAft>
                <a:spcPts val="0"/>
              </a:spcAft>
              <a:buSzPts val="788"/>
              <a:buFont typeface="Arial"/>
              <a:buChar char="●"/>
            </a:pPr>
            <a:r>
              <a:rPr lang="en" sz="787">
                <a:latin typeface="Arial"/>
                <a:ea typeface="Arial"/>
                <a:cs typeface="Arial"/>
                <a:sym typeface="Arial"/>
              </a:rPr>
              <a:t>Patterns that explain why delays happen</a:t>
            </a:r>
            <a:br>
              <a:rPr lang="en" sz="787">
                <a:latin typeface="Arial"/>
                <a:ea typeface="Arial"/>
                <a:cs typeface="Arial"/>
                <a:sym typeface="Arial"/>
              </a:rPr>
            </a:br>
            <a:endParaRPr sz="787">
              <a:latin typeface="Arial"/>
              <a:ea typeface="Arial"/>
              <a:cs typeface="Arial"/>
              <a:sym typeface="Arial"/>
            </a:endParaRPr>
          </a:p>
          <a:p>
            <a:pPr indent="-278606" lvl="0" marL="457200" rtl="0" algn="l">
              <a:lnSpc>
                <a:spcPct val="95000"/>
              </a:lnSpc>
              <a:spcBef>
                <a:spcPts val="0"/>
              </a:spcBef>
              <a:spcAft>
                <a:spcPts val="0"/>
              </a:spcAft>
              <a:buSzPts val="788"/>
              <a:buFont typeface="Arial"/>
              <a:buChar char="●"/>
            </a:pPr>
            <a:r>
              <a:rPr lang="en" sz="787">
                <a:latin typeface="Arial"/>
                <a:ea typeface="Arial"/>
                <a:cs typeface="Arial"/>
                <a:sym typeface="Arial"/>
              </a:rPr>
              <a:t>Which airports/carriers are more delay-prone</a:t>
            </a:r>
            <a:br>
              <a:rPr lang="en" sz="787">
                <a:latin typeface="Arial"/>
                <a:ea typeface="Arial"/>
                <a:cs typeface="Arial"/>
                <a:sym typeface="Arial"/>
              </a:rPr>
            </a:br>
            <a:endParaRPr sz="787">
              <a:latin typeface="Arial"/>
              <a:ea typeface="Arial"/>
              <a:cs typeface="Arial"/>
              <a:sym typeface="Arial"/>
            </a:endParaRPr>
          </a:p>
          <a:p>
            <a:pPr indent="-278606" lvl="0" marL="457200" rtl="0" algn="l">
              <a:lnSpc>
                <a:spcPct val="95000"/>
              </a:lnSpc>
              <a:spcBef>
                <a:spcPts val="0"/>
              </a:spcBef>
              <a:spcAft>
                <a:spcPts val="0"/>
              </a:spcAft>
              <a:buSzPts val="788"/>
              <a:buFont typeface="Arial"/>
              <a:buChar char="●"/>
            </a:pPr>
            <a:r>
              <a:rPr lang="en" sz="787">
                <a:latin typeface="Arial"/>
                <a:ea typeface="Arial"/>
                <a:cs typeface="Arial"/>
                <a:sym typeface="Arial"/>
              </a:rPr>
              <a:t>How delay-cause categories (weather, NAS, late-aircraft, carrier delays) affect outcomes</a:t>
            </a:r>
            <a:br>
              <a:rPr lang="en" sz="787">
                <a:latin typeface="Arial"/>
                <a:ea typeface="Arial"/>
                <a:cs typeface="Arial"/>
                <a:sym typeface="Arial"/>
              </a:rPr>
            </a:br>
            <a:endParaRPr sz="787">
              <a:latin typeface="Arial"/>
              <a:ea typeface="Arial"/>
              <a:cs typeface="Arial"/>
              <a:sym typeface="Arial"/>
            </a:endParaRPr>
          </a:p>
          <a:p>
            <a:pPr indent="-278606" lvl="0" marL="457200" rtl="0" algn="l">
              <a:lnSpc>
                <a:spcPct val="95000"/>
              </a:lnSpc>
              <a:spcBef>
                <a:spcPts val="0"/>
              </a:spcBef>
              <a:spcAft>
                <a:spcPts val="0"/>
              </a:spcAft>
              <a:buSzPts val="788"/>
              <a:buFont typeface="Arial"/>
              <a:buChar char="●"/>
            </a:pPr>
            <a:r>
              <a:rPr lang="en" sz="787">
                <a:latin typeface="Arial"/>
                <a:ea typeface="Arial"/>
                <a:cs typeface="Arial"/>
                <a:sym typeface="Arial"/>
              </a:rPr>
              <a:t>Whether delay behavior can be predicted from the integrated dataset</a:t>
            </a:r>
            <a:br>
              <a:rPr lang="en" sz="787">
                <a:latin typeface="Arial"/>
                <a:ea typeface="Arial"/>
                <a:cs typeface="Arial"/>
                <a:sym typeface="Arial"/>
              </a:rPr>
            </a:br>
            <a:endParaRPr sz="787">
              <a:latin typeface="Arial"/>
              <a:ea typeface="Arial"/>
              <a:cs typeface="Arial"/>
              <a:sym typeface="Arial"/>
            </a:endParaRPr>
          </a:p>
          <a:p>
            <a:pPr indent="0" lvl="0" marL="0" rtl="0" algn="l">
              <a:lnSpc>
                <a:spcPct val="95000"/>
              </a:lnSpc>
              <a:spcBef>
                <a:spcPts val="1200"/>
              </a:spcBef>
              <a:spcAft>
                <a:spcPts val="0"/>
              </a:spcAft>
              <a:buClr>
                <a:schemeClr val="dk1"/>
              </a:buClr>
              <a:buSzPts val="688"/>
              <a:buFont typeface="Arial"/>
              <a:buNone/>
            </a:pPr>
            <a:r>
              <a:rPr b="1" lang="en" sz="787">
                <a:latin typeface="Arial"/>
                <a:ea typeface="Arial"/>
                <a:cs typeface="Arial"/>
                <a:sym typeface="Arial"/>
              </a:rPr>
              <a:t>Final Output:</a:t>
            </a:r>
            <a:br>
              <a:rPr b="1" lang="en" sz="787">
                <a:latin typeface="Arial"/>
                <a:ea typeface="Arial"/>
                <a:cs typeface="Arial"/>
                <a:sym typeface="Arial"/>
              </a:rPr>
            </a:br>
            <a:r>
              <a:rPr lang="en" sz="787">
                <a:latin typeface="Arial"/>
                <a:ea typeface="Arial"/>
                <a:cs typeface="Arial"/>
                <a:sym typeface="Arial"/>
              </a:rPr>
              <a:t> A trained model that takes flight details as input and predicts if the flight will be delayed.</a:t>
            </a:r>
            <a:endParaRPr sz="787">
              <a:latin typeface="Arial"/>
              <a:ea typeface="Arial"/>
              <a:cs typeface="Arial"/>
              <a:sym typeface="Arial"/>
            </a:endParaRPr>
          </a:p>
          <a:p>
            <a:pPr indent="0" lvl="0" marL="0" rtl="0" algn="l">
              <a:lnSpc>
                <a:spcPct val="95000"/>
              </a:lnSpc>
              <a:spcBef>
                <a:spcPts val="1200"/>
              </a:spcBef>
              <a:spcAft>
                <a:spcPts val="1200"/>
              </a:spcAft>
              <a:buSzPts val="688"/>
              <a:buNone/>
            </a:pPr>
            <a:r>
              <a:t/>
            </a:r>
            <a:endParaRPr sz="850">
              <a:solidFill>
                <a:srgbClr val="212529"/>
              </a:solidFill>
              <a:highlight>
                <a:srgbClr val="F8F9FA"/>
              </a:highlight>
            </a:endParaRPr>
          </a:p>
        </p:txBody>
      </p:sp>
      <p:pic>
        <p:nvPicPr>
          <p:cNvPr id="67" name="Google Shape;67;p14"/>
          <p:cNvPicPr preferRelativeResize="0"/>
          <p:nvPr/>
        </p:nvPicPr>
        <p:blipFill>
          <a:blip r:embed="rId3">
            <a:alphaModFix/>
          </a:blip>
          <a:stretch>
            <a:fillRect/>
          </a:stretch>
        </p:blipFill>
        <p:spPr>
          <a:xfrm>
            <a:off x="5723225" y="878675"/>
            <a:ext cx="3268374" cy="3585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00"/>
              <a:t>Project Workflow</a:t>
            </a:r>
            <a:endParaRPr b="1" sz="1900"/>
          </a:p>
        </p:txBody>
      </p:sp>
      <p:sp>
        <p:nvSpPr>
          <p:cNvPr id="73" name="Google Shape;73;p15"/>
          <p:cNvSpPr txBox="1"/>
          <p:nvPr>
            <p:ph idx="1" type="body"/>
          </p:nvPr>
        </p:nvSpPr>
        <p:spPr>
          <a:xfrm>
            <a:off x="311700" y="1171600"/>
            <a:ext cx="8520600" cy="3696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605"/>
              <a:buFont typeface="Arial"/>
              <a:buNone/>
            </a:pPr>
            <a:r>
              <a:rPr b="1" lang="en" sz="805">
                <a:latin typeface="Arial"/>
                <a:ea typeface="Arial"/>
                <a:cs typeface="Arial"/>
                <a:sym typeface="Arial"/>
              </a:rPr>
              <a:t>Data Collection</a:t>
            </a:r>
            <a:br>
              <a:rPr b="1" lang="en" sz="805">
                <a:latin typeface="Arial"/>
                <a:ea typeface="Arial"/>
                <a:cs typeface="Arial"/>
                <a:sym typeface="Arial"/>
              </a:rPr>
            </a:br>
            <a:r>
              <a:rPr lang="en" sz="805">
                <a:latin typeface="Arial"/>
                <a:ea typeface="Arial"/>
                <a:cs typeface="Arial"/>
                <a:sym typeface="Arial"/>
              </a:rPr>
              <a:t> Gathered multiple U.S. flight datasets from public sources (GitHub, Kaggle, RowZero, Mendeley).</a:t>
            </a:r>
            <a:br>
              <a:rPr lang="en" sz="805">
                <a:latin typeface="Arial"/>
                <a:ea typeface="Arial"/>
                <a:cs typeface="Arial"/>
                <a:sym typeface="Arial"/>
              </a:rPr>
            </a:br>
            <a:endParaRPr sz="805">
              <a:latin typeface="Arial"/>
              <a:ea typeface="Arial"/>
              <a:cs typeface="Arial"/>
              <a:sym typeface="Arial"/>
            </a:endParaRPr>
          </a:p>
          <a:p>
            <a:pPr indent="0" lvl="0" marL="0" rtl="0" algn="l">
              <a:lnSpc>
                <a:spcPct val="105000"/>
              </a:lnSpc>
              <a:spcBef>
                <a:spcPts val="1200"/>
              </a:spcBef>
              <a:spcAft>
                <a:spcPts val="0"/>
              </a:spcAft>
              <a:buClr>
                <a:schemeClr val="dk1"/>
              </a:buClr>
              <a:buSzPts val="605"/>
              <a:buFont typeface="Arial"/>
              <a:buNone/>
            </a:pPr>
            <a:r>
              <a:rPr b="1" lang="en" sz="805">
                <a:latin typeface="Arial"/>
                <a:ea typeface="Arial"/>
                <a:cs typeface="Arial"/>
                <a:sym typeface="Arial"/>
              </a:rPr>
              <a:t>Data Integration</a:t>
            </a:r>
            <a:br>
              <a:rPr b="1" lang="en" sz="805">
                <a:latin typeface="Arial"/>
                <a:ea typeface="Arial"/>
                <a:cs typeface="Arial"/>
                <a:sym typeface="Arial"/>
              </a:rPr>
            </a:br>
            <a:r>
              <a:rPr lang="en" sz="805">
                <a:latin typeface="Arial"/>
                <a:ea typeface="Arial"/>
                <a:cs typeface="Arial"/>
                <a:sym typeface="Arial"/>
              </a:rPr>
              <a:t> Merged the datasets into one unified table, standardized column names, fixed formats, and aligned schemas.</a:t>
            </a:r>
            <a:br>
              <a:rPr lang="en" sz="805">
                <a:latin typeface="Arial"/>
                <a:ea typeface="Arial"/>
                <a:cs typeface="Arial"/>
                <a:sym typeface="Arial"/>
              </a:rPr>
            </a:br>
            <a:endParaRPr sz="805">
              <a:latin typeface="Arial"/>
              <a:ea typeface="Arial"/>
              <a:cs typeface="Arial"/>
              <a:sym typeface="Arial"/>
            </a:endParaRPr>
          </a:p>
          <a:p>
            <a:pPr indent="0" lvl="0" marL="0" rtl="0" algn="l">
              <a:lnSpc>
                <a:spcPct val="105000"/>
              </a:lnSpc>
              <a:spcBef>
                <a:spcPts val="1200"/>
              </a:spcBef>
              <a:spcAft>
                <a:spcPts val="0"/>
              </a:spcAft>
              <a:buClr>
                <a:schemeClr val="dk1"/>
              </a:buClr>
              <a:buSzPts val="605"/>
              <a:buFont typeface="Arial"/>
              <a:buNone/>
            </a:pPr>
            <a:r>
              <a:rPr b="1" lang="en" sz="805">
                <a:latin typeface="Arial"/>
                <a:ea typeface="Arial"/>
                <a:cs typeface="Arial"/>
                <a:sym typeface="Arial"/>
              </a:rPr>
              <a:t>Data Cleaning</a:t>
            </a:r>
            <a:br>
              <a:rPr b="1" lang="en" sz="805">
                <a:latin typeface="Arial"/>
                <a:ea typeface="Arial"/>
                <a:cs typeface="Arial"/>
                <a:sym typeface="Arial"/>
              </a:rPr>
            </a:br>
            <a:r>
              <a:rPr lang="en" sz="805">
                <a:latin typeface="Arial"/>
                <a:ea typeface="Arial"/>
                <a:cs typeface="Arial"/>
                <a:sym typeface="Arial"/>
              </a:rPr>
              <a:t> Removed missing entries, handled outliers, corrected inconsistencies, and ensured stable data types.</a:t>
            </a:r>
            <a:br>
              <a:rPr lang="en" sz="805">
                <a:latin typeface="Arial"/>
                <a:ea typeface="Arial"/>
                <a:cs typeface="Arial"/>
                <a:sym typeface="Arial"/>
              </a:rPr>
            </a:br>
            <a:endParaRPr sz="805">
              <a:latin typeface="Arial"/>
              <a:ea typeface="Arial"/>
              <a:cs typeface="Arial"/>
              <a:sym typeface="Arial"/>
            </a:endParaRPr>
          </a:p>
          <a:p>
            <a:pPr indent="0" lvl="0" marL="0" rtl="0" algn="l">
              <a:lnSpc>
                <a:spcPct val="105000"/>
              </a:lnSpc>
              <a:spcBef>
                <a:spcPts val="1200"/>
              </a:spcBef>
              <a:spcAft>
                <a:spcPts val="0"/>
              </a:spcAft>
              <a:buClr>
                <a:schemeClr val="dk1"/>
              </a:buClr>
              <a:buSzPts val="605"/>
              <a:buFont typeface="Arial"/>
              <a:buNone/>
            </a:pPr>
            <a:r>
              <a:rPr b="1" lang="en" sz="805">
                <a:latin typeface="Arial"/>
                <a:ea typeface="Arial"/>
                <a:cs typeface="Arial"/>
                <a:sym typeface="Arial"/>
              </a:rPr>
              <a:t>Data Transformation</a:t>
            </a:r>
            <a:br>
              <a:rPr b="1" lang="en" sz="805">
                <a:latin typeface="Arial"/>
                <a:ea typeface="Arial"/>
                <a:cs typeface="Arial"/>
                <a:sym typeface="Arial"/>
              </a:rPr>
            </a:br>
            <a:r>
              <a:rPr lang="en" sz="805">
                <a:latin typeface="Arial"/>
                <a:ea typeface="Arial"/>
                <a:cs typeface="Arial"/>
                <a:sym typeface="Arial"/>
              </a:rPr>
              <a:t> Encoded categorical features, created the target variable (</a:t>
            </a:r>
            <a:r>
              <a:rPr lang="en" sz="805">
                <a:solidFill>
                  <a:srgbClr val="188038"/>
                </a:solidFill>
                <a:latin typeface="Roboto Mono"/>
                <a:ea typeface="Roboto Mono"/>
                <a:cs typeface="Roboto Mono"/>
                <a:sym typeface="Roboto Mono"/>
              </a:rPr>
              <a:t>delayed</a:t>
            </a:r>
            <a:r>
              <a:rPr lang="en" sz="805">
                <a:latin typeface="Arial"/>
                <a:ea typeface="Arial"/>
                <a:cs typeface="Arial"/>
                <a:sym typeface="Arial"/>
              </a:rPr>
              <a:t>), reduced attributes, and prepared train/test sets.</a:t>
            </a:r>
            <a:br>
              <a:rPr lang="en" sz="805">
                <a:latin typeface="Arial"/>
                <a:ea typeface="Arial"/>
                <a:cs typeface="Arial"/>
                <a:sym typeface="Arial"/>
              </a:rPr>
            </a:br>
            <a:endParaRPr sz="805">
              <a:latin typeface="Arial"/>
              <a:ea typeface="Arial"/>
              <a:cs typeface="Arial"/>
              <a:sym typeface="Arial"/>
            </a:endParaRPr>
          </a:p>
          <a:p>
            <a:pPr indent="0" lvl="0" marL="0" rtl="0" algn="l">
              <a:lnSpc>
                <a:spcPct val="105000"/>
              </a:lnSpc>
              <a:spcBef>
                <a:spcPts val="1200"/>
              </a:spcBef>
              <a:spcAft>
                <a:spcPts val="0"/>
              </a:spcAft>
              <a:buClr>
                <a:schemeClr val="dk1"/>
              </a:buClr>
              <a:buSzPts val="605"/>
              <a:buFont typeface="Arial"/>
              <a:buNone/>
            </a:pPr>
            <a:r>
              <a:rPr b="1" lang="en" sz="805">
                <a:latin typeface="Arial"/>
                <a:ea typeface="Arial"/>
                <a:cs typeface="Arial"/>
                <a:sym typeface="Arial"/>
              </a:rPr>
              <a:t>ETL &amp; Visualization</a:t>
            </a:r>
            <a:br>
              <a:rPr b="1" lang="en" sz="805">
                <a:latin typeface="Arial"/>
                <a:ea typeface="Arial"/>
                <a:cs typeface="Arial"/>
                <a:sym typeface="Arial"/>
              </a:rPr>
            </a:br>
            <a:r>
              <a:rPr lang="en" sz="805">
                <a:latin typeface="Arial"/>
                <a:ea typeface="Arial"/>
                <a:cs typeface="Arial"/>
                <a:sym typeface="Arial"/>
              </a:rPr>
              <a:t> Built an Extract–Transform–Load workflow and created visuals showing delay patterns across airports, airlines, and causes.</a:t>
            </a:r>
            <a:br>
              <a:rPr lang="en" sz="805">
                <a:latin typeface="Arial"/>
                <a:ea typeface="Arial"/>
                <a:cs typeface="Arial"/>
                <a:sym typeface="Arial"/>
              </a:rPr>
            </a:br>
            <a:endParaRPr sz="805">
              <a:latin typeface="Arial"/>
              <a:ea typeface="Arial"/>
              <a:cs typeface="Arial"/>
              <a:sym typeface="Arial"/>
            </a:endParaRPr>
          </a:p>
          <a:p>
            <a:pPr indent="0" lvl="0" marL="0" rtl="0" algn="l">
              <a:lnSpc>
                <a:spcPct val="105000"/>
              </a:lnSpc>
              <a:spcBef>
                <a:spcPts val="1200"/>
              </a:spcBef>
              <a:spcAft>
                <a:spcPts val="0"/>
              </a:spcAft>
              <a:buClr>
                <a:schemeClr val="dk1"/>
              </a:buClr>
              <a:buSzPts val="605"/>
              <a:buFont typeface="Arial"/>
              <a:buNone/>
            </a:pPr>
            <a:r>
              <a:rPr b="1" lang="en" sz="805">
                <a:latin typeface="Arial"/>
                <a:ea typeface="Arial"/>
                <a:cs typeface="Arial"/>
                <a:sym typeface="Arial"/>
              </a:rPr>
              <a:t>Modeling</a:t>
            </a:r>
            <a:br>
              <a:rPr b="1" lang="en" sz="805">
                <a:latin typeface="Arial"/>
                <a:ea typeface="Arial"/>
                <a:cs typeface="Arial"/>
                <a:sym typeface="Arial"/>
              </a:rPr>
            </a:br>
            <a:r>
              <a:rPr lang="en" sz="805">
                <a:latin typeface="Arial"/>
                <a:ea typeface="Arial"/>
                <a:cs typeface="Arial"/>
                <a:sym typeface="Arial"/>
              </a:rPr>
              <a:t> Trained baseline and final Decision Tree models using raw vs cleaned data to measure improvement.</a:t>
            </a:r>
            <a:br>
              <a:rPr lang="en" sz="805">
                <a:latin typeface="Arial"/>
                <a:ea typeface="Arial"/>
                <a:cs typeface="Arial"/>
                <a:sym typeface="Arial"/>
              </a:rPr>
            </a:br>
            <a:endParaRPr sz="805">
              <a:latin typeface="Arial"/>
              <a:ea typeface="Arial"/>
              <a:cs typeface="Arial"/>
              <a:sym typeface="Arial"/>
            </a:endParaRPr>
          </a:p>
          <a:p>
            <a:pPr indent="0" lvl="0" marL="0" rtl="0" algn="l">
              <a:lnSpc>
                <a:spcPct val="105000"/>
              </a:lnSpc>
              <a:spcBef>
                <a:spcPts val="1200"/>
              </a:spcBef>
              <a:spcAft>
                <a:spcPts val="0"/>
              </a:spcAft>
              <a:buClr>
                <a:schemeClr val="dk1"/>
              </a:buClr>
              <a:buSzPts val="605"/>
              <a:buFont typeface="Arial"/>
              <a:buNone/>
            </a:pPr>
            <a:r>
              <a:rPr b="1" lang="en" sz="805">
                <a:latin typeface="Arial"/>
                <a:ea typeface="Arial"/>
                <a:cs typeface="Arial"/>
                <a:sym typeface="Arial"/>
              </a:rPr>
              <a:t>Deployment</a:t>
            </a:r>
            <a:br>
              <a:rPr b="1" lang="en" sz="805">
                <a:latin typeface="Arial"/>
                <a:ea typeface="Arial"/>
                <a:cs typeface="Arial"/>
                <a:sym typeface="Arial"/>
              </a:rPr>
            </a:br>
            <a:r>
              <a:rPr lang="en" sz="805">
                <a:latin typeface="Arial"/>
                <a:ea typeface="Arial"/>
                <a:cs typeface="Arial"/>
                <a:sym typeface="Arial"/>
              </a:rPr>
              <a:t> Added a prediction function that takes flight details and outputs “Delayed” or “On time,” showing how the model can be applied.</a:t>
            </a:r>
            <a:endParaRPr sz="805">
              <a:latin typeface="Arial"/>
              <a:ea typeface="Arial"/>
              <a:cs typeface="Arial"/>
              <a:sym typeface="Arial"/>
            </a:endParaRPr>
          </a:p>
          <a:p>
            <a:pPr indent="0" lvl="0" marL="0" rtl="0" algn="l">
              <a:lnSpc>
                <a:spcPct val="105000"/>
              </a:lnSpc>
              <a:spcBef>
                <a:spcPts val="1200"/>
              </a:spcBef>
              <a:spcAft>
                <a:spcPts val="1200"/>
              </a:spcAft>
              <a:buSzPts val="605"/>
              <a:buNone/>
            </a:pPr>
            <a:r>
              <a:t/>
            </a:r>
            <a:endParaRPr sz="119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en" sz="1300">
                <a:latin typeface="Arial"/>
                <a:ea typeface="Arial"/>
                <a:cs typeface="Arial"/>
                <a:sym typeface="Arial"/>
              </a:rPr>
              <a:t>Systems &amp; Tools Used</a:t>
            </a:r>
            <a:br>
              <a:rPr b="1" lang="en" sz="1300">
                <a:latin typeface="Arial"/>
                <a:ea typeface="Arial"/>
                <a:cs typeface="Arial"/>
                <a:sym typeface="Arial"/>
              </a:rPr>
            </a:br>
            <a:endParaRPr sz="1200">
              <a:solidFill>
                <a:srgbClr val="212529"/>
              </a:solidFill>
              <a:highlight>
                <a:srgbClr val="F8F9FA"/>
              </a:highlight>
            </a:endParaRPr>
          </a:p>
          <a:p>
            <a:pPr indent="0" lvl="0" marL="0" rtl="0" algn="l">
              <a:lnSpc>
                <a:spcPct val="115000"/>
              </a:lnSpc>
              <a:spcBef>
                <a:spcPts val="1400"/>
              </a:spcBef>
              <a:spcAft>
                <a:spcPts val="0"/>
              </a:spcAft>
              <a:buClr>
                <a:schemeClr val="dk1"/>
              </a:buClr>
              <a:buSzPct val="84615"/>
              <a:buFont typeface="Arial"/>
              <a:buNone/>
            </a:pPr>
            <a:r>
              <a:t/>
            </a:r>
            <a:endParaRPr b="1" sz="1300">
              <a:latin typeface="Arial"/>
              <a:ea typeface="Arial"/>
              <a:cs typeface="Arial"/>
              <a:sym typeface="Arial"/>
            </a:endParaRPr>
          </a:p>
          <a:p>
            <a:pPr indent="0" lvl="0" marL="0" rtl="0" algn="l">
              <a:spcBef>
                <a:spcPts val="400"/>
              </a:spcBef>
              <a:spcAft>
                <a:spcPts val="0"/>
              </a:spcAft>
              <a:buNone/>
            </a:pPr>
            <a:r>
              <a:t/>
            </a:r>
            <a:endParaRPr/>
          </a:p>
        </p:txBody>
      </p:sp>
      <p:sp>
        <p:nvSpPr>
          <p:cNvPr id="79" name="Google Shape;79;p16"/>
          <p:cNvSpPr txBox="1"/>
          <p:nvPr>
            <p:ph idx="1" type="body"/>
          </p:nvPr>
        </p:nvSpPr>
        <p:spPr>
          <a:xfrm>
            <a:off x="311700" y="1171600"/>
            <a:ext cx="8520600" cy="36165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100000"/>
              <a:buFont typeface="Arial"/>
              <a:buNone/>
            </a:pPr>
            <a:r>
              <a:rPr b="1" lang="en" sz="1100">
                <a:latin typeface="Arial"/>
                <a:ea typeface="Arial"/>
                <a:cs typeface="Arial"/>
                <a:sym typeface="Arial"/>
              </a:rPr>
              <a:t>Google Colab:</a:t>
            </a:r>
            <a:r>
              <a:rPr lang="en" sz="1100">
                <a:latin typeface="Arial"/>
                <a:ea typeface="Arial"/>
                <a:cs typeface="Arial"/>
                <a:sym typeface="Arial"/>
              </a:rPr>
              <a:t> running code, cleaning data, training models</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Clr>
                <a:schemeClr val="dk1"/>
              </a:buClr>
              <a:buSzPct val="100000"/>
              <a:buFont typeface="Arial"/>
              <a:buNone/>
            </a:pPr>
            <a:r>
              <a:rPr b="1" lang="en" sz="1100">
                <a:latin typeface="Arial"/>
                <a:ea typeface="Arial"/>
                <a:cs typeface="Arial"/>
                <a:sym typeface="Arial"/>
              </a:rPr>
              <a:t>Python + Libraries:</a:t>
            </a:r>
            <a:r>
              <a:rPr lang="en" sz="1100">
                <a:latin typeface="Arial"/>
                <a:ea typeface="Arial"/>
                <a:cs typeface="Arial"/>
                <a:sym typeface="Arial"/>
              </a:rPr>
              <a:t> Pandas, NumPy, Scikit-Learn</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Clr>
                <a:schemeClr val="dk1"/>
              </a:buClr>
              <a:buSzPct val="100000"/>
              <a:buFont typeface="Arial"/>
              <a:buNone/>
            </a:pPr>
            <a:r>
              <a:rPr b="1" lang="en" sz="1100">
                <a:latin typeface="Arial"/>
                <a:ea typeface="Arial"/>
                <a:cs typeface="Arial"/>
                <a:sym typeface="Arial"/>
              </a:rPr>
              <a:t>Visualization Tools:</a:t>
            </a:r>
            <a:r>
              <a:rPr lang="en" sz="1100">
                <a:latin typeface="Arial"/>
                <a:ea typeface="Arial"/>
                <a:cs typeface="Arial"/>
                <a:sym typeface="Arial"/>
              </a:rPr>
              <a:t> Matplotlib, Seaborn</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Clr>
                <a:schemeClr val="dk1"/>
              </a:buClr>
              <a:buSzPct val="100000"/>
              <a:buFont typeface="Arial"/>
              <a:buNone/>
            </a:pPr>
            <a:r>
              <a:rPr b="1" lang="en" sz="1100">
                <a:latin typeface="Arial"/>
                <a:ea typeface="Arial"/>
                <a:cs typeface="Arial"/>
                <a:sym typeface="Arial"/>
              </a:rPr>
              <a:t>Storage:</a:t>
            </a:r>
            <a:r>
              <a:rPr lang="en" sz="1100">
                <a:latin typeface="Arial"/>
                <a:ea typeface="Arial"/>
                <a:cs typeface="Arial"/>
                <a:sym typeface="Arial"/>
              </a:rPr>
              <a:t> CSV files, Google Drive</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Clr>
                <a:schemeClr val="dk1"/>
              </a:buClr>
              <a:buSzPct val="100000"/>
              <a:buFont typeface="Arial"/>
              <a:buNone/>
            </a:pPr>
            <a:r>
              <a:rPr b="1" lang="en" sz="1100">
                <a:latin typeface="Arial"/>
                <a:ea typeface="Arial"/>
                <a:cs typeface="Arial"/>
                <a:sym typeface="Arial"/>
              </a:rPr>
              <a:t>Data Sources:</a:t>
            </a:r>
            <a:r>
              <a:rPr lang="en" sz="1100">
                <a:latin typeface="Arial"/>
                <a:ea typeface="Arial"/>
                <a:cs typeface="Arial"/>
                <a:sym typeface="Arial"/>
              </a:rPr>
              <a:t> GitHub, Kaggle, RowZero, Mendeley</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Clr>
                <a:schemeClr val="dk1"/>
              </a:buClr>
              <a:buSzPct val="100000"/>
              <a:buFont typeface="Arial"/>
              <a:buNone/>
            </a:pPr>
            <a:r>
              <a:rPr b="1" lang="en" sz="1100">
                <a:latin typeface="Arial"/>
                <a:ea typeface="Arial"/>
                <a:cs typeface="Arial"/>
                <a:sym typeface="Arial"/>
              </a:rPr>
              <a:t>Diagram Tools:</a:t>
            </a:r>
            <a:r>
              <a:rPr lang="en" sz="1100">
                <a:latin typeface="Arial"/>
                <a:ea typeface="Arial"/>
                <a:cs typeface="Arial"/>
                <a:sym typeface="Arial"/>
              </a:rPr>
              <a:t> Draw.io (ETL and workflow diagrams)</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Clr>
                <a:schemeClr val="dk1"/>
              </a:buClr>
              <a:buSzPct val="100000"/>
              <a:buFont typeface="Arial"/>
              <a:buNone/>
            </a:pPr>
            <a:r>
              <a:rPr b="1" lang="en" sz="1100">
                <a:latin typeface="Arial"/>
                <a:ea typeface="Arial"/>
                <a:cs typeface="Arial"/>
                <a:sym typeface="Arial"/>
              </a:rPr>
              <a:t>Excel:</a:t>
            </a:r>
            <a:r>
              <a:rPr lang="en" sz="1100">
                <a:latin typeface="Arial"/>
                <a:ea typeface="Arial"/>
                <a:cs typeface="Arial"/>
                <a:sym typeface="Arial"/>
              </a:rPr>
              <a:t> quick inspection and validation</a:t>
            </a:r>
            <a:endParaRPr sz="1100">
              <a:latin typeface="Arial"/>
              <a:ea typeface="Arial"/>
              <a:cs typeface="Arial"/>
              <a:sym typeface="Arial"/>
            </a:endParaRPr>
          </a:p>
          <a:p>
            <a:pPr indent="0" lvl="0" marL="0" rtl="0" algn="l">
              <a:spcBef>
                <a:spcPts val="1200"/>
              </a:spcBef>
              <a:spcAft>
                <a:spcPts val="0"/>
              </a:spcAft>
              <a:buClr>
                <a:schemeClr val="dk1"/>
              </a:buClr>
              <a:buSzPct val="100000"/>
              <a:buFont typeface="Arial"/>
              <a:buNone/>
            </a:pPr>
            <a:r>
              <a:rPr b="1" lang="en" sz="1100">
                <a:latin typeface="Arial"/>
                <a:ea typeface="Arial"/>
                <a:cs typeface="Arial"/>
                <a:sym typeface="Arial"/>
              </a:rPr>
              <a:t>Software</a:t>
            </a:r>
            <a:r>
              <a:rPr lang="en" sz="1100">
                <a:latin typeface="Arial"/>
                <a:ea typeface="Arial"/>
                <a:cs typeface="Arial"/>
                <a:sym typeface="Arial"/>
              </a:rPr>
              <a:t>: Jupyter Notebook </a:t>
            </a: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91666"/>
              <a:buFont typeface="Arial"/>
              <a:buNone/>
            </a:pPr>
            <a:r>
              <a:rPr lang="en" sz="1200">
                <a:solidFill>
                  <a:srgbClr val="212529"/>
                </a:solidFill>
                <a:highlight>
                  <a:srgbClr val="F8F9FA"/>
                </a:highlight>
              </a:rPr>
              <a:t>- Data Collection and preparation</a:t>
            </a:r>
            <a:endParaRPr sz="1200">
              <a:solidFill>
                <a:srgbClr val="212529"/>
              </a:solidFill>
              <a:highlight>
                <a:srgbClr val="F8F9FA"/>
              </a:highlight>
            </a:endParaRPr>
          </a:p>
          <a:p>
            <a:pPr indent="0" lvl="0" marL="0" rtl="0" algn="l">
              <a:lnSpc>
                <a:spcPct val="115000"/>
              </a:lnSpc>
              <a:spcBef>
                <a:spcPts val="12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85" name="Google Shape;85;p17"/>
          <p:cNvSpPr txBox="1"/>
          <p:nvPr>
            <p:ph idx="1" type="body"/>
          </p:nvPr>
        </p:nvSpPr>
        <p:spPr>
          <a:xfrm>
            <a:off x="311700" y="1171675"/>
            <a:ext cx="2795700" cy="33972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935"/>
              <a:buFont typeface="Arial"/>
              <a:buNone/>
            </a:pPr>
            <a:r>
              <a:rPr b="1" lang="en" sz="1305">
                <a:latin typeface="Arial"/>
                <a:ea typeface="Arial"/>
                <a:cs typeface="Arial"/>
                <a:sym typeface="Arial"/>
              </a:rPr>
              <a:t>Data Collection</a:t>
            </a:r>
            <a:endParaRPr b="1" sz="1305">
              <a:latin typeface="Arial"/>
              <a:ea typeface="Arial"/>
              <a:cs typeface="Arial"/>
              <a:sym typeface="Arial"/>
            </a:endParaRPr>
          </a:p>
          <a:p>
            <a:pPr indent="-300672" lvl="0" marL="457200" rtl="0" algn="l">
              <a:lnSpc>
                <a:spcPct val="95000"/>
              </a:lnSpc>
              <a:spcBef>
                <a:spcPts val="1200"/>
              </a:spcBef>
              <a:spcAft>
                <a:spcPts val="0"/>
              </a:spcAft>
              <a:buSzPts val="1135"/>
              <a:buFont typeface="Arial"/>
              <a:buChar char="●"/>
            </a:pPr>
            <a:r>
              <a:rPr b="1" lang="en" sz="1135">
                <a:latin typeface="Arial"/>
                <a:ea typeface="Arial"/>
                <a:cs typeface="Arial"/>
                <a:sym typeface="Arial"/>
              </a:rPr>
              <a:t>Four major public datasets</a:t>
            </a:r>
            <a:r>
              <a:rPr lang="en" sz="1135">
                <a:latin typeface="Arial"/>
                <a:ea typeface="Arial"/>
                <a:cs typeface="Arial"/>
                <a:sym typeface="Arial"/>
              </a:rPr>
              <a:t> were gathered from GitHub, RowZero, Kaggle, and Mendeley.</a:t>
            </a:r>
            <a:endParaRPr sz="1135">
              <a:latin typeface="Arial"/>
              <a:ea typeface="Arial"/>
              <a:cs typeface="Arial"/>
              <a:sym typeface="Arial"/>
            </a:endParaRPr>
          </a:p>
          <a:p>
            <a:pPr indent="-300672" lvl="0" marL="457200" rtl="0" algn="l">
              <a:lnSpc>
                <a:spcPct val="95000"/>
              </a:lnSpc>
              <a:spcBef>
                <a:spcPts val="0"/>
              </a:spcBef>
              <a:spcAft>
                <a:spcPts val="0"/>
              </a:spcAft>
              <a:buSzPts val="1135"/>
              <a:buFont typeface="Arial"/>
              <a:buChar char="●"/>
            </a:pPr>
            <a:r>
              <a:rPr lang="en" sz="1135">
                <a:latin typeface="Arial"/>
                <a:ea typeface="Arial"/>
                <a:cs typeface="Arial"/>
                <a:sym typeface="Arial"/>
              </a:rPr>
              <a:t>Sources contained complementary information:</a:t>
            </a:r>
            <a:endParaRPr sz="1135">
              <a:latin typeface="Arial"/>
              <a:ea typeface="Arial"/>
              <a:cs typeface="Arial"/>
              <a:sym typeface="Arial"/>
            </a:endParaRPr>
          </a:p>
          <a:p>
            <a:pPr indent="-300672" lvl="1" marL="914400" rtl="0" algn="l">
              <a:lnSpc>
                <a:spcPct val="95000"/>
              </a:lnSpc>
              <a:spcBef>
                <a:spcPts val="0"/>
              </a:spcBef>
              <a:spcAft>
                <a:spcPts val="0"/>
              </a:spcAft>
              <a:buSzPts val="1135"/>
              <a:buFont typeface="Arial"/>
              <a:buChar char="○"/>
            </a:pPr>
            <a:r>
              <a:rPr lang="en" sz="1135">
                <a:latin typeface="Arial"/>
                <a:ea typeface="Arial"/>
                <a:cs typeface="Arial"/>
                <a:sym typeface="Arial"/>
              </a:rPr>
              <a:t>Flight schedules and delays</a:t>
            </a:r>
            <a:endParaRPr sz="1135">
              <a:latin typeface="Arial"/>
              <a:ea typeface="Arial"/>
              <a:cs typeface="Arial"/>
              <a:sym typeface="Arial"/>
            </a:endParaRPr>
          </a:p>
          <a:p>
            <a:pPr indent="-300672" lvl="1" marL="914400" rtl="0" algn="l">
              <a:lnSpc>
                <a:spcPct val="95000"/>
              </a:lnSpc>
              <a:spcBef>
                <a:spcPts val="0"/>
              </a:spcBef>
              <a:spcAft>
                <a:spcPts val="0"/>
              </a:spcAft>
              <a:buSzPts val="1135"/>
              <a:buFont typeface="Arial"/>
              <a:buChar char="○"/>
            </a:pPr>
            <a:r>
              <a:rPr lang="en" sz="1135">
                <a:latin typeface="Arial"/>
                <a:ea typeface="Arial"/>
                <a:cs typeface="Arial"/>
                <a:sym typeface="Arial"/>
              </a:rPr>
              <a:t>Airline identifiers</a:t>
            </a:r>
            <a:endParaRPr sz="1135">
              <a:latin typeface="Arial"/>
              <a:ea typeface="Arial"/>
              <a:cs typeface="Arial"/>
              <a:sym typeface="Arial"/>
            </a:endParaRPr>
          </a:p>
          <a:p>
            <a:pPr indent="-300672" lvl="1" marL="914400" rtl="0" algn="l">
              <a:lnSpc>
                <a:spcPct val="95000"/>
              </a:lnSpc>
              <a:spcBef>
                <a:spcPts val="0"/>
              </a:spcBef>
              <a:spcAft>
                <a:spcPts val="0"/>
              </a:spcAft>
              <a:buSzPts val="1135"/>
              <a:buFont typeface="Arial"/>
              <a:buChar char="○"/>
            </a:pPr>
            <a:r>
              <a:rPr lang="en" sz="1135">
                <a:latin typeface="Arial"/>
                <a:ea typeface="Arial"/>
                <a:cs typeface="Arial"/>
                <a:sym typeface="Arial"/>
              </a:rPr>
              <a:t>Airport metadata</a:t>
            </a:r>
            <a:endParaRPr sz="1135">
              <a:latin typeface="Arial"/>
              <a:ea typeface="Arial"/>
              <a:cs typeface="Arial"/>
              <a:sym typeface="Arial"/>
            </a:endParaRPr>
          </a:p>
          <a:p>
            <a:pPr indent="-300672" lvl="1" marL="914400" rtl="0" algn="l">
              <a:lnSpc>
                <a:spcPct val="95000"/>
              </a:lnSpc>
              <a:spcBef>
                <a:spcPts val="0"/>
              </a:spcBef>
              <a:spcAft>
                <a:spcPts val="0"/>
              </a:spcAft>
              <a:buSzPts val="1135"/>
              <a:buFont typeface="Arial"/>
              <a:buChar char="○"/>
            </a:pPr>
            <a:r>
              <a:rPr lang="en" sz="1135">
                <a:latin typeface="Arial"/>
                <a:ea typeface="Arial"/>
                <a:cs typeface="Arial"/>
                <a:sym typeface="Arial"/>
              </a:rPr>
              <a:t>Delay cause summaries</a:t>
            </a:r>
            <a:endParaRPr sz="1135">
              <a:latin typeface="Arial"/>
              <a:ea typeface="Arial"/>
              <a:cs typeface="Arial"/>
              <a:sym typeface="Arial"/>
            </a:endParaRPr>
          </a:p>
          <a:p>
            <a:pPr indent="-300672" lvl="1" marL="914400" rtl="0" algn="l">
              <a:lnSpc>
                <a:spcPct val="95000"/>
              </a:lnSpc>
              <a:spcBef>
                <a:spcPts val="0"/>
              </a:spcBef>
              <a:spcAft>
                <a:spcPts val="0"/>
              </a:spcAft>
              <a:buSzPts val="1135"/>
              <a:buFont typeface="Arial"/>
              <a:buChar char="○"/>
            </a:pPr>
            <a:r>
              <a:rPr lang="en" sz="1135">
                <a:latin typeface="Arial"/>
                <a:ea typeface="Arial"/>
                <a:cs typeface="Arial"/>
                <a:sym typeface="Arial"/>
              </a:rPr>
              <a:t>Weather and operational conditions</a:t>
            </a:r>
            <a:endParaRPr sz="1135">
              <a:latin typeface="Arial"/>
              <a:ea typeface="Arial"/>
              <a:cs typeface="Arial"/>
              <a:sym typeface="Arial"/>
            </a:endParaRPr>
          </a:p>
          <a:p>
            <a:pPr indent="-300672" lvl="0" marL="457200" rtl="0" algn="l">
              <a:lnSpc>
                <a:spcPct val="95000"/>
              </a:lnSpc>
              <a:spcBef>
                <a:spcPts val="0"/>
              </a:spcBef>
              <a:spcAft>
                <a:spcPts val="0"/>
              </a:spcAft>
              <a:buSzPts val="1135"/>
              <a:buFont typeface="Arial"/>
              <a:buChar char="●"/>
            </a:pPr>
            <a:r>
              <a:rPr lang="en" sz="1135">
                <a:latin typeface="Arial"/>
                <a:ea typeface="Arial"/>
                <a:cs typeface="Arial"/>
                <a:sym typeface="Arial"/>
              </a:rPr>
              <a:t>All datasets were imported into Python using automated directory scanning and bulk CSV loading.</a:t>
            </a:r>
            <a:endParaRPr sz="1135">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t/>
            </a:r>
            <a:endParaRPr sz="1135">
              <a:latin typeface="Arial"/>
              <a:ea typeface="Arial"/>
              <a:cs typeface="Arial"/>
              <a:sym typeface="Arial"/>
            </a:endParaRPr>
          </a:p>
          <a:p>
            <a:pPr indent="0" lvl="0" marL="0" rtl="0" algn="l">
              <a:lnSpc>
                <a:spcPct val="95000"/>
              </a:lnSpc>
              <a:spcBef>
                <a:spcPts val="1200"/>
              </a:spcBef>
              <a:spcAft>
                <a:spcPts val="0"/>
              </a:spcAft>
              <a:buSzPts val="935"/>
              <a:buNone/>
            </a:pPr>
            <a:r>
              <a:t/>
            </a:r>
            <a:endParaRPr sz="1135">
              <a:latin typeface="Arial"/>
              <a:ea typeface="Arial"/>
              <a:cs typeface="Arial"/>
              <a:sym typeface="Arial"/>
            </a:endParaRPr>
          </a:p>
          <a:p>
            <a:pPr indent="0" lvl="0" marL="0" rtl="0" algn="l">
              <a:lnSpc>
                <a:spcPct val="95000"/>
              </a:lnSpc>
              <a:spcBef>
                <a:spcPts val="1200"/>
              </a:spcBef>
              <a:spcAft>
                <a:spcPts val="1200"/>
              </a:spcAft>
              <a:buClr>
                <a:schemeClr val="dk1"/>
              </a:buClr>
              <a:buSzPts val="935"/>
              <a:buFont typeface="Arial"/>
              <a:buNone/>
            </a:pPr>
            <a:r>
              <a:t/>
            </a:r>
            <a:endParaRPr sz="1390"/>
          </a:p>
        </p:txBody>
      </p:sp>
      <p:sp>
        <p:nvSpPr>
          <p:cNvPr id="86" name="Google Shape;86;p17"/>
          <p:cNvSpPr txBox="1"/>
          <p:nvPr>
            <p:ph idx="2" type="body"/>
          </p:nvPr>
        </p:nvSpPr>
        <p:spPr>
          <a:xfrm>
            <a:off x="3107400" y="1171675"/>
            <a:ext cx="5724900" cy="3397200"/>
          </a:xfrm>
          <a:prstGeom prst="rect">
            <a:avLst/>
          </a:prstGeom>
        </p:spPr>
        <p:txBody>
          <a:bodyPr anchorCtr="0" anchor="t" bIns="91425" lIns="91425" spcFirstLastPara="1" rIns="91425" wrap="square" tIns="91425">
            <a:normAutofit fontScale="92500"/>
          </a:bodyPr>
          <a:lstStyle/>
          <a:p>
            <a:pPr indent="0" lvl="0" marL="0" rtl="0" algn="l">
              <a:spcBef>
                <a:spcPts val="1400"/>
              </a:spcBef>
              <a:spcAft>
                <a:spcPts val="0"/>
              </a:spcAft>
              <a:buClr>
                <a:schemeClr val="dk1"/>
              </a:buClr>
              <a:buSzPct val="84615"/>
              <a:buFont typeface="Arial"/>
              <a:buNone/>
            </a:pPr>
            <a:r>
              <a:rPr b="1" lang="en" sz="1300">
                <a:latin typeface="Arial"/>
                <a:ea typeface="Arial"/>
                <a:cs typeface="Arial"/>
                <a:sym typeface="Arial"/>
              </a:rPr>
              <a:t>Data Understanding &amp; Profiling</a:t>
            </a:r>
            <a:endParaRPr b="1" sz="1300">
              <a:latin typeface="Arial"/>
              <a:ea typeface="Arial"/>
              <a:cs typeface="Arial"/>
              <a:sym typeface="Arial"/>
            </a:endParaRPr>
          </a:p>
          <a:p>
            <a:pPr indent="-293211" lvl="0" marL="457200" rtl="0" algn="l">
              <a:spcBef>
                <a:spcPts val="1200"/>
              </a:spcBef>
              <a:spcAft>
                <a:spcPts val="0"/>
              </a:spcAft>
              <a:buSzPct val="100000"/>
              <a:buFont typeface="Arial"/>
              <a:buChar char="●"/>
            </a:pPr>
            <a:r>
              <a:rPr lang="en" sz="1100">
                <a:latin typeface="Arial"/>
                <a:ea typeface="Arial"/>
                <a:cs typeface="Arial"/>
                <a:sym typeface="Arial"/>
              </a:rPr>
              <a:t>Examined dataset shapes, column distributions, variable meanings, and key identifiers.</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lang="en" sz="1100">
                <a:latin typeface="Arial"/>
                <a:ea typeface="Arial"/>
                <a:cs typeface="Arial"/>
                <a:sym typeface="Arial"/>
              </a:rPr>
              <a:t>Identified inconsistencies across sources (e.g., naming conventions, date formats, delay definitions).</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lang="en" sz="1100">
                <a:latin typeface="Arial"/>
                <a:ea typeface="Arial"/>
                <a:cs typeface="Arial"/>
                <a:sym typeface="Arial"/>
              </a:rPr>
              <a:t>Investigated missing values, duplicate patterns, and schema misalignment.</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lang="en" sz="1100">
                <a:latin typeface="Arial"/>
                <a:ea typeface="Arial"/>
                <a:cs typeface="Arial"/>
                <a:sym typeface="Arial"/>
              </a:rPr>
              <a:t>Determined which datasets could be merged based on shared keys such as </a:t>
            </a:r>
            <a:r>
              <a:rPr b="1" lang="en" sz="1100">
                <a:latin typeface="Arial"/>
                <a:ea typeface="Arial"/>
                <a:cs typeface="Arial"/>
                <a:sym typeface="Arial"/>
              </a:rPr>
              <a:t>CARRIER_CODE</a:t>
            </a:r>
            <a:r>
              <a:rPr lang="en" sz="1100">
                <a:latin typeface="Arial"/>
                <a:ea typeface="Arial"/>
                <a:cs typeface="Arial"/>
                <a:sym typeface="Arial"/>
              </a:rPr>
              <a:t>, </a:t>
            </a:r>
            <a:r>
              <a:rPr b="1" lang="en" sz="1100">
                <a:latin typeface="Arial"/>
                <a:ea typeface="Arial"/>
                <a:cs typeface="Arial"/>
                <a:sym typeface="Arial"/>
              </a:rPr>
              <a:t>FL_DATE</a:t>
            </a:r>
            <a:r>
              <a:rPr lang="en" sz="1100">
                <a:latin typeface="Arial"/>
                <a:ea typeface="Arial"/>
                <a:cs typeface="Arial"/>
                <a:sym typeface="Arial"/>
              </a:rPr>
              <a:t>, </a:t>
            </a:r>
            <a:r>
              <a:rPr b="1" lang="en" sz="1100">
                <a:latin typeface="Arial"/>
                <a:ea typeface="Arial"/>
                <a:cs typeface="Arial"/>
                <a:sym typeface="Arial"/>
              </a:rPr>
              <a:t>ORIGIN</a:t>
            </a:r>
            <a:r>
              <a:rPr lang="en" sz="1100">
                <a:latin typeface="Arial"/>
                <a:ea typeface="Arial"/>
                <a:cs typeface="Arial"/>
                <a:sym typeface="Arial"/>
              </a:rPr>
              <a:t>, and </a:t>
            </a:r>
            <a:r>
              <a:rPr b="1" lang="en" sz="1100">
                <a:latin typeface="Arial"/>
                <a:ea typeface="Arial"/>
                <a:cs typeface="Arial"/>
                <a:sym typeface="Arial"/>
              </a:rPr>
              <a:t>DEST</a:t>
            </a:r>
            <a:r>
              <a:rPr lang="en" sz="1100">
                <a:latin typeface="Arial"/>
                <a:ea typeface="Arial"/>
                <a:cs typeface="Arial"/>
                <a:sym typeface="Arial"/>
              </a:rPr>
              <a:t>.</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1400"/>
              </a:spcBef>
              <a:spcAft>
                <a:spcPts val="0"/>
              </a:spcAft>
              <a:buClr>
                <a:schemeClr val="dk1"/>
              </a:buClr>
              <a:buSzPct val="84615"/>
              <a:buFont typeface="Arial"/>
              <a:buNone/>
            </a:pPr>
            <a:r>
              <a:rPr b="1" lang="en" sz="1300">
                <a:latin typeface="Arial"/>
                <a:ea typeface="Arial"/>
                <a:cs typeface="Arial"/>
                <a:sym typeface="Arial"/>
              </a:rPr>
              <a:t>Data Preparation</a:t>
            </a:r>
            <a:endParaRPr b="1" sz="1300">
              <a:latin typeface="Arial"/>
              <a:ea typeface="Arial"/>
              <a:cs typeface="Arial"/>
              <a:sym typeface="Arial"/>
            </a:endParaRPr>
          </a:p>
          <a:p>
            <a:pPr indent="-293211" lvl="0" marL="457200" rtl="0" algn="l">
              <a:spcBef>
                <a:spcPts val="1200"/>
              </a:spcBef>
              <a:spcAft>
                <a:spcPts val="0"/>
              </a:spcAft>
              <a:buSzPct val="100000"/>
              <a:buFont typeface="Arial"/>
              <a:buChar char="●"/>
            </a:pPr>
            <a:r>
              <a:rPr lang="en" sz="1100">
                <a:latin typeface="Arial"/>
                <a:ea typeface="Arial"/>
                <a:cs typeface="Arial"/>
                <a:sym typeface="Arial"/>
              </a:rPr>
              <a:t>Standardized schemas across all datasets to unify column names and formats.</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lang="en" sz="1100">
                <a:latin typeface="Arial"/>
                <a:ea typeface="Arial"/>
                <a:cs typeface="Arial"/>
                <a:sym typeface="Arial"/>
              </a:rPr>
              <a:t>Cleaned and normalized date/time fields for consistent interpretation.</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lang="en" sz="1100">
                <a:latin typeface="Arial"/>
                <a:ea typeface="Arial"/>
                <a:cs typeface="Arial"/>
                <a:sym typeface="Arial"/>
              </a:rPr>
              <a:t>Removed unnecessary or redundant variables that did not contribute to analysis goals.</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lang="en" sz="1100">
                <a:latin typeface="Arial"/>
                <a:ea typeface="Arial"/>
                <a:cs typeface="Arial"/>
                <a:sym typeface="Arial"/>
              </a:rPr>
              <a:t>Ensured compatibility between datasets by aligning airport and airline codes.</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lang="en" sz="1100">
                <a:latin typeface="Arial"/>
                <a:ea typeface="Arial"/>
                <a:cs typeface="Arial"/>
                <a:sym typeface="Arial"/>
              </a:rPr>
              <a:t>Prepared the integrated dataset for feature engineering and analysis.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latin typeface="Arial"/>
                <a:ea typeface="Arial"/>
                <a:cs typeface="Arial"/>
                <a:sym typeface="Arial"/>
              </a:rPr>
              <a:t>Project Goal</a:t>
            </a:r>
            <a:br>
              <a:rPr b="1" lang="en" sz="1100">
                <a:latin typeface="Arial"/>
                <a:ea typeface="Arial"/>
                <a:cs typeface="Arial"/>
                <a:sym typeface="Arial"/>
              </a:rPr>
            </a:br>
            <a:r>
              <a:rPr lang="en" sz="1100">
                <a:latin typeface="Arial"/>
                <a:ea typeface="Arial"/>
                <a:cs typeface="Arial"/>
                <a:sym typeface="Arial"/>
              </a:rPr>
              <a:t>Integrate multiple large-scale U.S. flight datasets into a unified, analysis-ready database suitable for delay analytics, visualization, and predictive modeling.</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1400"/>
              </a:spcBef>
              <a:spcAft>
                <a:spcPts val="0"/>
              </a:spcAft>
              <a:buNone/>
            </a:pPr>
            <a:r>
              <a:rPr b="1" lang="en" sz="1300">
                <a:latin typeface="Arial"/>
                <a:ea typeface="Arial"/>
                <a:cs typeface="Arial"/>
                <a:sym typeface="Arial"/>
              </a:rPr>
              <a:t>Why Integration Was Needed</a:t>
            </a:r>
            <a:endParaRPr b="1" sz="13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Information was </a:t>
            </a:r>
            <a:r>
              <a:rPr b="1" lang="en" sz="1100">
                <a:latin typeface="Arial"/>
                <a:ea typeface="Arial"/>
                <a:cs typeface="Arial"/>
                <a:sym typeface="Arial"/>
              </a:rPr>
              <a:t>fragmented</a:t>
            </a:r>
            <a:r>
              <a:rPr lang="en" sz="1100">
                <a:latin typeface="Arial"/>
                <a:ea typeface="Arial"/>
                <a:cs typeface="Arial"/>
                <a:sym typeface="Arial"/>
              </a:rPr>
              <a:t> across multiple sources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Schemas and variable names were </a:t>
            </a:r>
            <a:r>
              <a:rPr b="1" lang="en" sz="1100">
                <a:latin typeface="Arial"/>
                <a:ea typeface="Arial"/>
                <a:cs typeface="Arial"/>
                <a:sym typeface="Arial"/>
              </a:rPr>
              <a:t>inconsistent</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Important metadata (airline names, airport info) existed in separate files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A unified dataset enables </a:t>
            </a:r>
            <a:r>
              <a:rPr b="1" lang="en" sz="1100">
                <a:latin typeface="Arial"/>
                <a:ea typeface="Arial"/>
                <a:cs typeface="Arial"/>
                <a:sym typeface="Arial"/>
              </a:rPr>
              <a:t>complete delay analysis</a:t>
            </a:r>
            <a:endParaRPr b="1" sz="1100">
              <a:latin typeface="Arial"/>
              <a:ea typeface="Arial"/>
              <a:cs typeface="Arial"/>
              <a:sym typeface="Arial"/>
            </a:endParaRPr>
          </a:p>
          <a:p>
            <a:pPr indent="0" lvl="0" marL="0" rtl="0" algn="l">
              <a:spcBef>
                <a:spcPts val="1200"/>
              </a:spcBef>
              <a:spcAft>
                <a:spcPts val="1200"/>
              </a:spcAft>
              <a:buNone/>
            </a:pPr>
            <a:r>
              <a:t/>
            </a:r>
            <a:endParaRPr sz="1200"/>
          </a:p>
        </p:txBody>
      </p:sp>
      <p:sp>
        <p:nvSpPr>
          <p:cNvPr id="92" name="Google Shape;92;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91666"/>
              <a:buFont typeface="Arial"/>
              <a:buNone/>
            </a:pPr>
            <a:r>
              <a:rPr lang="en" sz="1200">
                <a:solidFill>
                  <a:srgbClr val="212529"/>
                </a:solidFill>
                <a:highlight>
                  <a:srgbClr val="F8F9FA"/>
                </a:highlight>
              </a:rPr>
              <a:t>- Data Integration </a:t>
            </a:r>
            <a:endParaRPr sz="1200">
              <a:solidFill>
                <a:srgbClr val="212529"/>
              </a:solidFill>
              <a:highlight>
                <a:srgbClr val="F8F9FA"/>
              </a:highlight>
            </a:endParaRPr>
          </a:p>
          <a:p>
            <a:pPr indent="0" lvl="0" marL="0" rtl="0" algn="l">
              <a:lnSpc>
                <a:spcPct val="115000"/>
              </a:lnSpc>
              <a:spcBef>
                <a:spcPts val="12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93" name="Google Shape;93;p18"/>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b="1" lang="en" sz="1300">
                <a:latin typeface="Arial"/>
                <a:ea typeface="Arial"/>
                <a:cs typeface="Arial"/>
                <a:sym typeface="Arial"/>
              </a:rPr>
              <a:t>Datasets Used</a:t>
            </a:r>
            <a:endParaRPr b="1" sz="13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 sz="1100">
                <a:latin typeface="Arial"/>
                <a:ea typeface="Arial"/>
                <a:cs typeface="Arial"/>
                <a:sym typeface="Arial"/>
              </a:rPr>
              <a:t>• GitHub Monthly Flight Data</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12 CSV files (Jan–Dec)</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~6.8M flight-level records</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 sz="1100">
                <a:latin typeface="Arial"/>
                <a:ea typeface="Arial"/>
                <a:cs typeface="Arial"/>
                <a:sym typeface="Arial"/>
              </a:rPr>
              <a:t>• RowZero Flight Dataset</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Full operational records (date, delays, cancellations)</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 sz="1100">
                <a:latin typeface="Arial"/>
                <a:ea typeface="Arial"/>
                <a:cs typeface="Arial"/>
                <a:sym typeface="Arial"/>
              </a:rPr>
              <a:t>• Kaggle Airline Delay Causes</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Monthly cause-level delay totals for carriers &amp; airports</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 sz="1100">
                <a:latin typeface="Arial"/>
                <a:ea typeface="Arial"/>
                <a:cs typeface="Arial"/>
                <a:sym typeface="Arial"/>
              </a:rPr>
              <a:t>• Mendeley Weather + Flight Dataset</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Temperature, wind, rain/snow indicators</a:t>
            </a: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latin typeface="Arial"/>
                <a:ea typeface="Arial"/>
                <a:cs typeface="Arial"/>
                <a:sym typeface="Arial"/>
              </a:rPr>
              <a:t>I</a:t>
            </a:r>
            <a:r>
              <a:rPr b="1" lang="en" sz="1300">
                <a:latin typeface="Arial"/>
                <a:ea typeface="Arial"/>
                <a:cs typeface="Arial"/>
                <a:sym typeface="Arial"/>
              </a:rPr>
              <a:t>ntegration Workflow</a:t>
            </a:r>
            <a:endParaRPr b="1" sz="13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 sz="1100">
                <a:latin typeface="Arial"/>
                <a:ea typeface="Arial"/>
                <a:cs typeface="Arial"/>
                <a:sym typeface="Arial"/>
              </a:rPr>
              <a:t>1. Automated File Loading</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All 12 monthly flight files loaded using a systematic Python loop.</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 sz="1100">
                <a:latin typeface="Arial"/>
                <a:ea typeface="Arial"/>
                <a:cs typeface="Arial"/>
                <a:sym typeface="Arial"/>
              </a:rPr>
              <a:t>2. Schema Standardization</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Unified naming conventions (e.g., CARRIER_CODE, ORIGIN, DEST).</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Standardized date and time formats.</a:t>
            </a:r>
            <a:endParaRPr sz="1100">
              <a:latin typeface="Arial"/>
              <a:ea typeface="Arial"/>
              <a:cs typeface="Arial"/>
              <a:sym typeface="Arial"/>
            </a:endParaRPr>
          </a:p>
          <a:p>
            <a:pPr indent="0" lvl="0" marL="0" rtl="0" algn="l">
              <a:spcBef>
                <a:spcPts val="1200"/>
              </a:spcBef>
              <a:spcAft>
                <a:spcPts val="1200"/>
              </a:spcAft>
              <a:buNone/>
            </a:pPr>
            <a:r>
              <a:t/>
            </a:r>
            <a:endParaRPr b="1" sz="1200"/>
          </a:p>
        </p:txBody>
      </p:sp>
      <p:sp>
        <p:nvSpPr>
          <p:cNvPr id="99" name="Google Shape;99;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91666"/>
              <a:buFont typeface="Arial"/>
              <a:buNone/>
            </a:pPr>
            <a:r>
              <a:rPr lang="en" sz="1200">
                <a:solidFill>
                  <a:srgbClr val="212529"/>
                </a:solidFill>
                <a:highlight>
                  <a:srgbClr val="F8F9FA"/>
                </a:highlight>
              </a:rPr>
              <a:t>- Data Integration </a:t>
            </a:r>
            <a:endParaRPr sz="1200">
              <a:solidFill>
                <a:srgbClr val="212529"/>
              </a:solidFill>
              <a:highlight>
                <a:srgbClr val="F8F9FA"/>
              </a:highlight>
            </a:endParaRPr>
          </a:p>
          <a:p>
            <a:pPr indent="0" lvl="0" marL="0" rtl="0" algn="l">
              <a:spcBef>
                <a:spcPts val="1200"/>
              </a:spcBef>
              <a:spcAft>
                <a:spcPts val="0"/>
              </a:spcAft>
              <a:buNone/>
            </a:pPr>
            <a:r>
              <a:t/>
            </a:r>
            <a:endParaRPr/>
          </a:p>
        </p:txBody>
      </p:sp>
      <p:sp>
        <p:nvSpPr>
          <p:cNvPr id="100" name="Google Shape;100;p19"/>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100">
                <a:latin typeface="Arial"/>
                <a:ea typeface="Arial"/>
                <a:cs typeface="Arial"/>
                <a:sym typeface="Arial"/>
              </a:rPr>
              <a:t>3. Metadata Enhancement</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Merged in </a:t>
            </a:r>
            <a:r>
              <a:rPr b="1" lang="en" sz="1100">
                <a:latin typeface="Arial"/>
                <a:ea typeface="Arial"/>
                <a:cs typeface="Arial"/>
                <a:sym typeface="Arial"/>
              </a:rPr>
              <a:t>airline names</a:t>
            </a:r>
            <a:r>
              <a:rPr lang="en" sz="1100">
                <a:latin typeface="Arial"/>
                <a:ea typeface="Arial"/>
                <a:cs typeface="Arial"/>
                <a:sym typeface="Arial"/>
              </a:rPr>
              <a:t> using Airline.csv</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Merged in </a:t>
            </a:r>
            <a:r>
              <a:rPr b="1" lang="en" sz="1100">
                <a:latin typeface="Arial"/>
                <a:ea typeface="Arial"/>
                <a:cs typeface="Arial"/>
                <a:sym typeface="Arial"/>
              </a:rPr>
              <a:t>airport details</a:t>
            </a:r>
            <a:r>
              <a:rPr lang="en" sz="1100">
                <a:latin typeface="Arial"/>
                <a:ea typeface="Arial"/>
                <a:cs typeface="Arial"/>
                <a:sym typeface="Arial"/>
              </a:rPr>
              <a:t> (city, state, coordinates)</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 sz="1100">
                <a:latin typeface="Arial"/>
                <a:ea typeface="Arial"/>
                <a:cs typeface="Arial"/>
                <a:sym typeface="Arial"/>
              </a:rPr>
              <a:t>4. Consolidation into a Master Table</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Combined all flight records into a single DataFrame</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Preserved consistent field meanings across sources</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1400"/>
              </a:spcBef>
              <a:spcAft>
                <a:spcPts val="0"/>
              </a:spcAft>
              <a:buClr>
                <a:schemeClr val="dk1"/>
              </a:buClr>
              <a:buSzPts val="1100"/>
              <a:buFont typeface="Arial"/>
              <a:buNone/>
            </a:pPr>
            <a:r>
              <a:rPr b="1" lang="en" sz="1100">
                <a:latin typeface="Arial"/>
                <a:ea typeface="Arial"/>
                <a:cs typeface="Arial"/>
                <a:sym typeface="Arial"/>
              </a:rPr>
              <a:t>Key Benefits</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Supports cross-dataset comparisons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Enables multi-dimensional delay analysis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Provides a complete picture of each flight (schedule → actual performance → delay breakdown)</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b="1" sz="1100"/>
          </a:p>
          <a:p>
            <a:pPr indent="0" lvl="0" marL="0" rtl="0" algn="l">
              <a:spcBef>
                <a:spcPts val="1200"/>
              </a:spcBef>
              <a:spcAft>
                <a:spcPts val="1200"/>
              </a:spcAft>
              <a:buNone/>
            </a:pPr>
            <a:r>
              <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91666"/>
              <a:buFont typeface="Arial"/>
              <a:buNone/>
            </a:pPr>
            <a:r>
              <a:rPr lang="en" sz="1200">
                <a:solidFill>
                  <a:srgbClr val="212529"/>
                </a:solidFill>
                <a:highlight>
                  <a:srgbClr val="F8F9FA"/>
                </a:highlight>
              </a:rPr>
              <a:t>- Data Cleaning </a:t>
            </a:r>
            <a:endParaRPr sz="1200">
              <a:solidFill>
                <a:srgbClr val="212529"/>
              </a:solidFill>
              <a:highlight>
                <a:srgbClr val="F8F9FA"/>
              </a:highlight>
            </a:endParaRPr>
          </a:p>
          <a:p>
            <a:pPr indent="0" lvl="0" marL="0" rtl="0" algn="l">
              <a:lnSpc>
                <a:spcPct val="115000"/>
              </a:lnSpc>
              <a:spcBef>
                <a:spcPts val="12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106" name="Google Shape;106;p20"/>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523"/>
              <a:buFont typeface="Arial"/>
              <a:buNone/>
            </a:pPr>
            <a:r>
              <a:rPr b="1" lang="en" sz="1100">
                <a:latin typeface="Arial"/>
                <a:ea typeface="Arial"/>
                <a:cs typeface="Arial"/>
                <a:sym typeface="Arial"/>
              </a:rPr>
              <a:t>Initial Data Quality Challenges</a:t>
            </a:r>
            <a:endParaRPr b="1" sz="1100">
              <a:latin typeface="Arial"/>
              <a:ea typeface="Arial"/>
              <a:cs typeface="Arial"/>
              <a:sym typeface="Arial"/>
            </a:endParaRPr>
          </a:p>
          <a:p>
            <a:pPr indent="0" lvl="0" marL="0" rtl="0" algn="l">
              <a:lnSpc>
                <a:spcPct val="95000"/>
              </a:lnSpc>
              <a:spcBef>
                <a:spcPts val="1200"/>
              </a:spcBef>
              <a:spcAft>
                <a:spcPts val="0"/>
              </a:spcAft>
              <a:buClr>
                <a:schemeClr val="dk1"/>
              </a:buClr>
              <a:buSzPts val="523"/>
              <a:buFont typeface="Arial"/>
              <a:buNone/>
            </a:pPr>
            <a:r>
              <a:rPr b="1" lang="en" sz="1100">
                <a:latin typeface="Arial"/>
                <a:ea typeface="Arial"/>
                <a:cs typeface="Arial"/>
                <a:sym typeface="Arial"/>
              </a:rPr>
              <a:t>1. Missing Values</a:t>
            </a:r>
            <a:endParaRPr b="1" sz="1100">
              <a:latin typeface="Arial"/>
              <a:ea typeface="Arial"/>
              <a:cs typeface="Arial"/>
              <a:sym typeface="Arial"/>
            </a:endParaRPr>
          </a:p>
          <a:p>
            <a:pPr indent="-298450" lvl="0" marL="457200" rtl="0" algn="l">
              <a:lnSpc>
                <a:spcPct val="95000"/>
              </a:lnSpc>
              <a:spcBef>
                <a:spcPts val="1200"/>
              </a:spcBef>
              <a:spcAft>
                <a:spcPts val="0"/>
              </a:spcAft>
              <a:buSzPts val="1100"/>
              <a:buFont typeface="Arial"/>
              <a:buChar char="●"/>
            </a:pPr>
            <a:r>
              <a:rPr lang="en" sz="1100">
                <a:latin typeface="Arial"/>
                <a:ea typeface="Arial"/>
                <a:cs typeface="Arial"/>
                <a:sym typeface="Arial"/>
              </a:rPr>
              <a:t>DEP_TIME, ARR_TIME missing for cancelled flights</a:t>
            </a:r>
            <a:endParaRPr sz="1100">
              <a:latin typeface="Arial"/>
              <a:ea typeface="Arial"/>
              <a:cs typeface="Arial"/>
              <a:sym typeface="Arial"/>
            </a:endParaRPr>
          </a:p>
          <a:p>
            <a:pPr indent="-298450" lvl="0" marL="457200" rtl="0" algn="l">
              <a:lnSpc>
                <a:spcPct val="95000"/>
              </a:lnSpc>
              <a:spcBef>
                <a:spcPts val="0"/>
              </a:spcBef>
              <a:spcAft>
                <a:spcPts val="0"/>
              </a:spcAft>
              <a:buSzPts val="1100"/>
              <a:buFont typeface="Arial"/>
              <a:buChar char="●"/>
            </a:pPr>
            <a:r>
              <a:rPr lang="en" sz="1100">
                <a:latin typeface="Arial"/>
                <a:ea typeface="Arial"/>
                <a:cs typeface="Arial"/>
                <a:sym typeface="Arial"/>
              </a:rPr>
              <a:t>Delay cause fields missing in ~400k+ rows</a:t>
            </a:r>
            <a:endParaRPr sz="1100">
              <a:latin typeface="Arial"/>
              <a:ea typeface="Arial"/>
              <a:cs typeface="Arial"/>
              <a:sym typeface="Arial"/>
            </a:endParaRPr>
          </a:p>
          <a:p>
            <a:pPr indent="-298450" lvl="0" marL="457200" rtl="0" algn="l">
              <a:lnSpc>
                <a:spcPct val="95000"/>
              </a:lnSpc>
              <a:spcBef>
                <a:spcPts val="0"/>
              </a:spcBef>
              <a:spcAft>
                <a:spcPts val="0"/>
              </a:spcAft>
              <a:buSzPts val="1100"/>
              <a:buFont typeface="Arial"/>
              <a:buChar char="●"/>
            </a:pPr>
            <a:r>
              <a:rPr lang="en" sz="1100">
                <a:latin typeface="Arial"/>
                <a:ea typeface="Arial"/>
                <a:cs typeface="Arial"/>
                <a:sym typeface="Arial"/>
              </a:rPr>
              <a:t>CANCELLATION_CODE missing &gt;90%</a:t>
            </a:r>
            <a:endParaRPr sz="1100">
              <a:latin typeface="Arial"/>
              <a:ea typeface="Arial"/>
              <a:cs typeface="Arial"/>
              <a:sym typeface="Arial"/>
            </a:endParaRPr>
          </a:p>
          <a:p>
            <a:pPr indent="0" lvl="0" marL="0" rtl="0" algn="l">
              <a:lnSpc>
                <a:spcPct val="95000"/>
              </a:lnSpc>
              <a:spcBef>
                <a:spcPts val="1200"/>
              </a:spcBef>
              <a:spcAft>
                <a:spcPts val="0"/>
              </a:spcAft>
              <a:buClr>
                <a:schemeClr val="dk1"/>
              </a:buClr>
              <a:buSzPts val="523"/>
              <a:buFont typeface="Arial"/>
              <a:buNone/>
            </a:pPr>
            <a:r>
              <a:rPr b="1" lang="en" sz="1100">
                <a:latin typeface="Arial"/>
                <a:ea typeface="Arial"/>
                <a:cs typeface="Arial"/>
                <a:sym typeface="Arial"/>
              </a:rPr>
              <a:t>2. Inconsistent Formats</a:t>
            </a:r>
            <a:endParaRPr b="1" sz="1100">
              <a:latin typeface="Arial"/>
              <a:ea typeface="Arial"/>
              <a:cs typeface="Arial"/>
              <a:sym typeface="Arial"/>
            </a:endParaRPr>
          </a:p>
          <a:p>
            <a:pPr indent="-298450" lvl="0" marL="457200" rtl="0" algn="l">
              <a:lnSpc>
                <a:spcPct val="95000"/>
              </a:lnSpc>
              <a:spcBef>
                <a:spcPts val="1200"/>
              </a:spcBef>
              <a:spcAft>
                <a:spcPts val="0"/>
              </a:spcAft>
              <a:buSzPts val="1100"/>
              <a:buFont typeface="Arial"/>
              <a:buChar char="●"/>
            </a:pPr>
            <a:r>
              <a:rPr lang="en" sz="1100">
                <a:latin typeface="Arial"/>
                <a:ea typeface="Arial"/>
                <a:cs typeface="Arial"/>
                <a:sym typeface="Arial"/>
              </a:rPr>
              <a:t>Dates in different formats</a:t>
            </a:r>
            <a:endParaRPr sz="1100">
              <a:latin typeface="Arial"/>
              <a:ea typeface="Arial"/>
              <a:cs typeface="Arial"/>
              <a:sym typeface="Arial"/>
            </a:endParaRPr>
          </a:p>
          <a:p>
            <a:pPr indent="-298450" lvl="0" marL="457200" rtl="0" algn="l">
              <a:lnSpc>
                <a:spcPct val="95000"/>
              </a:lnSpc>
              <a:spcBef>
                <a:spcPts val="0"/>
              </a:spcBef>
              <a:spcAft>
                <a:spcPts val="0"/>
              </a:spcAft>
              <a:buSzPts val="1100"/>
              <a:buFont typeface="Arial"/>
              <a:buChar char="●"/>
            </a:pPr>
            <a:r>
              <a:rPr lang="en" sz="1100">
                <a:latin typeface="Arial"/>
                <a:ea typeface="Arial"/>
                <a:cs typeface="Arial"/>
                <a:sym typeface="Arial"/>
              </a:rPr>
              <a:t>Times stored as integers (e.g., 1530 for 3:30 PM)</a:t>
            </a:r>
            <a:endParaRPr sz="1100">
              <a:latin typeface="Arial"/>
              <a:ea typeface="Arial"/>
              <a:cs typeface="Arial"/>
              <a:sym typeface="Arial"/>
            </a:endParaRPr>
          </a:p>
          <a:p>
            <a:pPr indent="-298450" lvl="0" marL="457200" rtl="0" algn="l">
              <a:lnSpc>
                <a:spcPct val="95000"/>
              </a:lnSpc>
              <a:spcBef>
                <a:spcPts val="0"/>
              </a:spcBef>
              <a:spcAft>
                <a:spcPts val="0"/>
              </a:spcAft>
              <a:buSzPts val="1100"/>
              <a:buFont typeface="Arial"/>
              <a:buChar char="●"/>
            </a:pPr>
            <a:r>
              <a:rPr lang="en" sz="1100">
                <a:latin typeface="Arial"/>
                <a:ea typeface="Arial"/>
                <a:cs typeface="Arial"/>
                <a:sym typeface="Arial"/>
              </a:rPr>
              <a:t>Carrier codes using multiple column names</a:t>
            </a:r>
            <a:endParaRPr sz="1100">
              <a:latin typeface="Arial"/>
              <a:ea typeface="Arial"/>
              <a:cs typeface="Arial"/>
              <a:sym typeface="Arial"/>
            </a:endParaRPr>
          </a:p>
          <a:p>
            <a:pPr indent="0" lvl="0" marL="0" rtl="0" algn="l">
              <a:lnSpc>
                <a:spcPct val="95000"/>
              </a:lnSpc>
              <a:spcBef>
                <a:spcPts val="1200"/>
              </a:spcBef>
              <a:spcAft>
                <a:spcPts val="0"/>
              </a:spcAft>
              <a:buClr>
                <a:schemeClr val="dk1"/>
              </a:buClr>
              <a:buSzPts val="523"/>
              <a:buFont typeface="Arial"/>
              <a:buNone/>
            </a:pPr>
            <a:r>
              <a:rPr b="1" lang="en" sz="1100">
                <a:latin typeface="Arial"/>
                <a:ea typeface="Arial"/>
                <a:cs typeface="Arial"/>
                <a:sym typeface="Arial"/>
              </a:rPr>
              <a:t>3. Redundant or Irrelevant Data</a:t>
            </a:r>
            <a:endParaRPr b="1" sz="1100">
              <a:latin typeface="Arial"/>
              <a:ea typeface="Arial"/>
              <a:cs typeface="Arial"/>
              <a:sym typeface="Arial"/>
            </a:endParaRPr>
          </a:p>
          <a:p>
            <a:pPr indent="-298450" lvl="0" marL="457200" rtl="0" algn="l">
              <a:lnSpc>
                <a:spcPct val="95000"/>
              </a:lnSpc>
              <a:spcBef>
                <a:spcPts val="1200"/>
              </a:spcBef>
              <a:spcAft>
                <a:spcPts val="0"/>
              </a:spcAft>
              <a:buSzPts val="1100"/>
              <a:buFont typeface="Arial"/>
              <a:buChar char="●"/>
            </a:pPr>
            <a:r>
              <a:rPr lang="en" sz="1100">
                <a:latin typeface="Arial"/>
                <a:ea typeface="Arial"/>
                <a:cs typeface="Arial"/>
                <a:sym typeface="Arial"/>
              </a:rPr>
              <a:t>Taxi times</a:t>
            </a:r>
            <a:endParaRPr sz="1100">
              <a:latin typeface="Arial"/>
              <a:ea typeface="Arial"/>
              <a:cs typeface="Arial"/>
              <a:sym typeface="Arial"/>
            </a:endParaRPr>
          </a:p>
          <a:p>
            <a:pPr indent="-298450" lvl="0" marL="457200" rtl="0" algn="l">
              <a:lnSpc>
                <a:spcPct val="95000"/>
              </a:lnSpc>
              <a:spcBef>
                <a:spcPts val="0"/>
              </a:spcBef>
              <a:spcAft>
                <a:spcPts val="0"/>
              </a:spcAft>
              <a:buSzPts val="1100"/>
              <a:buFont typeface="Arial"/>
              <a:buChar char="●"/>
            </a:pPr>
            <a:r>
              <a:rPr lang="en" sz="1100">
                <a:latin typeface="Arial"/>
                <a:ea typeface="Arial"/>
                <a:cs typeface="Arial"/>
                <a:sym typeface="Arial"/>
              </a:rPr>
              <a:t>Air time</a:t>
            </a:r>
            <a:endParaRPr sz="1100">
              <a:latin typeface="Arial"/>
              <a:ea typeface="Arial"/>
              <a:cs typeface="Arial"/>
              <a:sym typeface="Arial"/>
            </a:endParaRPr>
          </a:p>
          <a:p>
            <a:pPr indent="-298450" lvl="0" marL="457200" rtl="0" algn="l">
              <a:lnSpc>
                <a:spcPct val="95000"/>
              </a:lnSpc>
              <a:spcBef>
                <a:spcPts val="0"/>
              </a:spcBef>
              <a:spcAft>
                <a:spcPts val="0"/>
              </a:spcAft>
              <a:buSzPts val="1100"/>
              <a:buFont typeface="Arial"/>
              <a:buChar char="●"/>
            </a:pPr>
            <a:r>
              <a:rPr lang="en" sz="1100">
                <a:latin typeface="Arial"/>
                <a:ea typeface="Arial"/>
                <a:cs typeface="Arial"/>
                <a:sym typeface="Arial"/>
              </a:rPr>
              <a:t>Tail numbers</a:t>
            </a:r>
            <a:endParaRPr sz="1100">
              <a:latin typeface="Arial"/>
              <a:ea typeface="Arial"/>
              <a:cs typeface="Arial"/>
              <a:sym typeface="Arial"/>
            </a:endParaRPr>
          </a:p>
          <a:p>
            <a:pPr indent="-298450" lvl="0" marL="457200" rtl="0" algn="l">
              <a:lnSpc>
                <a:spcPct val="95000"/>
              </a:lnSpc>
              <a:spcBef>
                <a:spcPts val="0"/>
              </a:spcBef>
              <a:spcAft>
                <a:spcPts val="0"/>
              </a:spcAft>
              <a:buSzPts val="1100"/>
              <a:buFont typeface="Arial"/>
              <a:buChar char="●"/>
            </a:pPr>
            <a:r>
              <a:rPr lang="en" sz="1100">
                <a:latin typeface="Arial"/>
                <a:ea typeface="Arial"/>
                <a:cs typeface="Arial"/>
                <a:sym typeface="Arial"/>
              </a:rPr>
              <a:t>Sparse cancellation metadata</a:t>
            </a:r>
            <a:endParaRPr sz="1100">
              <a:latin typeface="Arial"/>
              <a:ea typeface="Arial"/>
              <a:cs typeface="Arial"/>
              <a:sym typeface="Arial"/>
            </a:endParaRPr>
          </a:p>
          <a:p>
            <a:pPr indent="-298450" lvl="0" marL="457200" rtl="0" algn="l">
              <a:lnSpc>
                <a:spcPct val="95000"/>
              </a:lnSpc>
              <a:spcBef>
                <a:spcPts val="0"/>
              </a:spcBef>
              <a:spcAft>
                <a:spcPts val="0"/>
              </a:spcAft>
              <a:buSzPts val="1100"/>
              <a:buFont typeface="Arial"/>
              <a:buChar char="●"/>
            </a:pPr>
            <a:r>
              <a:rPr lang="en" sz="1100">
                <a:latin typeface="Arial"/>
                <a:ea typeface="Arial"/>
                <a:cs typeface="Arial"/>
                <a:sym typeface="Arial"/>
              </a:rPr>
              <a:t>Fields not relevant to delay analysis or modeling</a:t>
            </a:r>
            <a:endParaRPr sz="1100">
              <a:latin typeface="Arial"/>
              <a:ea typeface="Arial"/>
              <a:cs typeface="Arial"/>
              <a:sym typeface="Arial"/>
            </a:endParaRPr>
          </a:p>
          <a:p>
            <a:pPr indent="0" lvl="0" marL="0" rtl="0" algn="l">
              <a:lnSpc>
                <a:spcPct val="95000"/>
              </a:lnSpc>
              <a:spcBef>
                <a:spcPts val="1200"/>
              </a:spcBef>
              <a:spcAft>
                <a:spcPts val="0"/>
              </a:spcAft>
              <a:buClr>
                <a:schemeClr val="dk1"/>
              </a:buClr>
              <a:buSzPts val="523"/>
              <a:buFont typeface="Arial"/>
              <a:buNone/>
            </a:pPr>
            <a:r>
              <a:t/>
            </a:r>
            <a:endParaRPr sz="1100">
              <a:latin typeface="Arial"/>
              <a:ea typeface="Arial"/>
              <a:cs typeface="Arial"/>
              <a:sym typeface="Arial"/>
            </a:endParaRPr>
          </a:p>
          <a:p>
            <a:pPr indent="0" lvl="0" marL="0" rtl="0" algn="l">
              <a:lnSpc>
                <a:spcPct val="95000"/>
              </a:lnSpc>
              <a:spcBef>
                <a:spcPts val="0"/>
              </a:spcBef>
              <a:spcAft>
                <a:spcPts val="1200"/>
              </a:spcAft>
              <a:buSzPts val="523"/>
              <a:buNone/>
            </a:pPr>
            <a:r>
              <a:t/>
            </a:r>
            <a:endParaRPr sz="1100"/>
          </a:p>
        </p:txBody>
      </p:sp>
      <p:sp>
        <p:nvSpPr>
          <p:cNvPr id="107" name="Google Shape;107;p20"/>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p>
            <a:pPr indent="0" lvl="0" marL="0" rtl="0" algn="l">
              <a:lnSpc>
                <a:spcPct val="95000"/>
              </a:lnSpc>
              <a:spcBef>
                <a:spcPts val="1400"/>
              </a:spcBef>
              <a:spcAft>
                <a:spcPts val="0"/>
              </a:spcAft>
              <a:buClr>
                <a:schemeClr val="dk1"/>
              </a:buClr>
              <a:buSzPts val="523"/>
              <a:buFont typeface="Arial"/>
              <a:buNone/>
            </a:pPr>
            <a:r>
              <a:rPr b="1" lang="en" sz="1100">
                <a:latin typeface="Arial"/>
                <a:ea typeface="Arial"/>
                <a:cs typeface="Arial"/>
                <a:sym typeface="Arial"/>
              </a:rPr>
              <a:t>Cleaning Objectives</a:t>
            </a:r>
            <a:endParaRPr b="1" sz="1100">
              <a:latin typeface="Arial"/>
              <a:ea typeface="Arial"/>
              <a:cs typeface="Arial"/>
              <a:sym typeface="Arial"/>
            </a:endParaRPr>
          </a:p>
          <a:p>
            <a:pPr indent="-298450" lvl="0" marL="457200" rtl="0" algn="l">
              <a:lnSpc>
                <a:spcPct val="95000"/>
              </a:lnSpc>
              <a:spcBef>
                <a:spcPts val="1200"/>
              </a:spcBef>
              <a:spcAft>
                <a:spcPts val="0"/>
              </a:spcAft>
              <a:buSzPts val="1100"/>
              <a:buFont typeface="Arial"/>
              <a:buChar char="●"/>
            </a:pPr>
            <a:r>
              <a:rPr lang="en" sz="1100">
                <a:latin typeface="Arial"/>
                <a:ea typeface="Arial"/>
                <a:cs typeface="Arial"/>
                <a:sym typeface="Arial"/>
              </a:rPr>
              <a:t>Ensure </a:t>
            </a:r>
            <a:r>
              <a:rPr b="1" lang="en" sz="1100">
                <a:latin typeface="Arial"/>
                <a:ea typeface="Arial"/>
                <a:cs typeface="Arial"/>
                <a:sym typeface="Arial"/>
              </a:rPr>
              <a:t>reliable, consistent, machine-readable</a:t>
            </a:r>
            <a:r>
              <a:rPr lang="en" sz="1100">
                <a:latin typeface="Arial"/>
                <a:ea typeface="Arial"/>
                <a:cs typeface="Arial"/>
                <a:sym typeface="Arial"/>
              </a:rPr>
              <a:t> data</a:t>
            </a:r>
            <a:endParaRPr sz="1100">
              <a:latin typeface="Arial"/>
              <a:ea typeface="Arial"/>
              <a:cs typeface="Arial"/>
              <a:sym typeface="Arial"/>
            </a:endParaRPr>
          </a:p>
          <a:p>
            <a:pPr indent="-298450" lvl="0" marL="457200" rtl="0" algn="l">
              <a:lnSpc>
                <a:spcPct val="95000"/>
              </a:lnSpc>
              <a:spcBef>
                <a:spcPts val="0"/>
              </a:spcBef>
              <a:spcAft>
                <a:spcPts val="0"/>
              </a:spcAft>
              <a:buSzPts val="1100"/>
              <a:buFont typeface="Arial"/>
              <a:buChar char="●"/>
            </a:pPr>
            <a:r>
              <a:rPr lang="en" sz="1100">
                <a:latin typeface="Arial"/>
                <a:ea typeface="Arial"/>
                <a:cs typeface="Arial"/>
                <a:sym typeface="Arial"/>
              </a:rPr>
              <a:t>Remove noise while preserving meaningful patterns</a:t>
            </a:r>
            <a:endParaRPr sz="1100">
              <a:latin typeface="Arial"/>
              <a:ea typeface="Arial"/>
              <a:cs typeface="Arial"/>
              <a:sym typeface="Arial"/>
            </a:endParaRPr>
          </a:p>
          <a:p>
            <a:pPr indent="-298450" lvl="0" marL="457200" rtl="0" algn="l">
              <a:lnSpc>
                <a:spcPct val="95000"/>
              </a:lnSpc>
              <a:spcBef>
                <a:spcPts val="0"/>
              </a:spcBef>
              <a:spcAft>
                <a:spcPts val="0"/>
              </a:spcAft>
              <a:buSzPts val="1100"/>
              <a:buFont typeface="Arial"/>
              <a:buChar char="●"/>
            </a:pPr>
            <a:r>
              <a:rPr lang="en" sz="1100">
                <a:latin typeface="Arial"/>
                <a:ea typeface="Arial"/>
                <a:cs typeface="Arial"/>
                <a:sym typeface="Arial"/>
              </a:rPr>
              <a:t>Prepare dataset for export and feature engineering</a:t>
            </a:r>
            <a:endParaRPr sz="1100">
              <a:latin typeface="Arial"/>
              <a:ea typeface="Arial"/>
              <a:cs typeface="Arial"/>
              <a:sym typeface="Arial"/>
            </a:endParaRPr>
          </a:p>
          <a:p>
            <a:pPr indent="0" lvl="0" marL="0" rtl="0" algn="l">
              <a:spcBef>
                <a:spcPts val="1200"/>
              </a:spcBef>
              <a:spcAft>
                <a:spcPts val="1200"/>
              </a:spcAft>
              <a:buNone/>
            </a:pPr>
            <a:r>
              <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91666"/>
              <a:buFont typeface="Arial"/>
              <a:buNone/>
            </a:pPr>
            <a:r>
              <a:rPr lang="en" sz="1200">
                <a:solidFill>
                  <a:srgbClr val="212529"/>
                </a:solidFill>
                <a:highlight>
                  <a:srgbClr val="F8F9FA"/>
                </a:highlight>
              </a:rPr>
              <a:t>- Data Cleaning </a:t>
            </a:r>
            <a:endParaRPr sz="1200">
              <a:solidFill>
                <a:srgbClr val="212529"/>
              </a:solidFill>
              <a:highlight>
                <a:srgbClr val="F8F9FA"/>
              </a:highlight>
            </a:endParaRPr>
          </a:p>
          <a:p>
            <a:pPr indent="0" lvl="0" marL="0" rtl="0" algn="l">
              <a:lnSpc>
                <a:spcPct val="115000"/>
              </a:lnSpc>
              <a:spcBef>
                <a:spcPts val="12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113" name="Google Shape;113;p21"/>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p>
            <a:pPr indent="0" lvl="0" marL="0" rtl="0" algn="l">
              <a:lnSpc>
                <a:spcPct val="95000"/>
              </a:lnSpc>
              <a:spcBef>
                <a:spcPts val="1400"/>
              </a:spcBef>
              <a:spcAft>
                <a:spcPts val="0"/>
              </a:spcAft>
              <a:buClr>
                <a:schemeClr val="dk1"/>
              </a:buClr>
              <a:buSzPts val="1018"/>
              <a:buFont typeface="Arial"/>
              <a:buNone/>
            </a:pPr>
            <a:r>
              <a:rPr b="1" lang="en" sz="1102">
                <a:latin typeface="Arial"/>
                <a:ea typeface="Arial"/>
                <a:cs typeface="Arial"/>
                <a:sym typeface="Arial"/>
              </a:rPr>
              <a:t>Feature Selection Strategy</a:t>
            </a:r>
            <a:endParaRPr b="1" sz="1102">
              <a:latin typeface="Arial"/>
              <a:ea typeface="Arial"/>
              <a:cs typeface="Arial"/>
              <a:sym typeface="Arial"/>
            </a:endParaRPr>
          </a:p>
          <a:p>
            <a:pPr indent="0" lvl="0" marL="0" rtl="0" algn="l">
              <a:lnSpc>
                <a:spcPct val="95000"/>
              </a:lnSpc>
              <a:spcBef>
                <a:spcPts val="1200"/>
              </a:spcBef>
              <a:spcAft>
                <a:spcPts val="0"/>
              </a:spcAft>
              <a:buClr>
                <a:schemeClr val="dk1"/>
              </a:buClr>
              <a:buSzPts val="1018"/>
              <a:buFont typeface="Arial"/>
              <a:buNone/>
            </a:pPr>
            <a:r>
              <a:rPr lang="en" sz="917">
                <a:latin typeface="Arial"/>
                <a:ea typeface="Arial"/>
                <a:cs typeface="Arial"/>
                <a:sym typeface="Arial"/>
              </a:rPr>
              <a:t>Retained only the fields that directly support:</a:t>
            </a:r>
            <a:endParaRPr sz="917">
              <a:latin typeface="Arial"/>
              <a:ea typeface="Arial"/>
              <a:cs typeface="Arial"/>
              <a:sym typeface="Arial"/>
            </a:endParaRPr>
          </a:p>
          <a:p>
            <a:pPr indent="-286861" lvl="0" marL="457200" rtl="0" algn="l">
              <a:lnSpc>
                <a:spcPct val="95000"/>
              </a:lnSpc>
              <a:spcBef>
                <a:spcPts val="1200"/>
              </a:spcBef>
              <a:spcAft>
                <a:spcPts val="0"/>
              </a:spcAft>
              <a:buSzPts val="918"/>
              <a:buFont typeface="Arial"/>
              <a:buChar char="●"/>
            </a:pPr>
            <a:r>
              <a:rPr lang="en" sz="917">
                <a:latin typeface="Arial"/>
                <a:ea typeface="Arial"/>
                <a:cs typeface="Arial"/>
                <a:sym typeface="Arial"/>
              </a:rPr>
              <a:t>Delay modeling</a:t>
            </a:r>
            <a:endParaRPr sz="917">
              <a:latin typeface="Arial"/>
              <a:ea typeface="Arial"/>
              <a:cs typeface="Arial"/>
              <a:sym typeface="Arial"/>
            </a:endParaRPr>
          </a:p>
          <a:p>
            <a:pPr indent="-286861" lvl="0" marL="457200" rtl="0" algn="l">
              <a:lnSpc>
                <a:spcPct val="95000"/>
              </a:lnSpc>
              <a:spcBef>
                <a:spcPts val="0"/>
              </a:spcBef>
              <a:spcAft>
                <a:spcPts val="0"/>
              </a:spcAft>
              <a:buSzPts val="918"/>
              <a:buFont typeface="Arial"/>
              <a:buChar char="●"/>
            </a:pPr>
            <a:r>
              <a:rPr lang="en" sz="917">
                <a:latin typeface="Arial"/>
                <a:ea typeface="Arial"/>
                <a:cs typeface="Arial"/>
                <a:sym typeface="Arial"/>
              </a:rPr>
              <a:t>Airline/airport performance analysis</a:t>
            </a:r>
            <a:endParaRPr sz="917">
              <a:latin typeface="Arial"/>
              <a:ea typeface="Arial"/>
              <a:cs typeface="Arial"/>
              <a:sym typeface="Arial"/>
            </a:endParaRPr>
          </a:p>
          <a:p>
            <a:pPr indent="-286861" lvl="0" marL="457200" rtl="0" algn="l">
              <a:lnSpc>
                <a:spcPct val="95000"/>
              </a:lnSpc>
              <a:spcBef>
                <a:spcPts val="0"/>
              </a:spcBef>
              <a:spcAft>
                <a:spcPts val="0"/>
              </a:spcAft>
              <a:buSzPts val="918"/>
              <a:buFont typeface="Arial"/>
              <a:buChar char="●"/>
            </a:pPr>
            <a:r>
              <a:rPr lang="en" sz="917">
                <a:latin typeface="Arial"/>
                <a:ea typeface="Arial"/>
                <a:cs typeface="Arial"/>
                <a:sym typeface="Arial"/>
              </a:rPr>
              <a:t>Temporal behavior</a:t>
            </a:r>
            <a:endParaRPr sz="917">
              <a:latin typeface="Arial"/>
              <a:ea typeface="Arial"/>
              <a:cs typeface="Arial"/>
              <a:sym typeface="Arial"/>
            </a:endParaRPr>
          </a:p>
          <a:p>
            <a:pPr indent="-286861" lvl="0" marL="457200" rtl="0" algn="l">
              <a:lnSpc>
                <a:spcPct val="95000"/>
              </a:lnSpc>
              <a:spcBef>
                <a:spcPts val="0"/>
              </a:spcBef>
              <a:spcAft>
                <a:spcPts val="0"/>
              </a:spcAft>
              <a:buSzPts val="918"/>
              <a:buFont typeface="Arial"/>
              <a:buChar char="●"/>
            </a:pPr>
            <a:r>
              <a:rPr lang="en" sz="917">
                <a:latin typeface="Arial"/>
                <a:ea typeface="Arial"/>
                <a:cs typeface="Arial"/>
                <a:sym typeface="Arial"/>
              </a:rPr>
              <a:t>Operational insights</a:t>
            </a:r>
            <a:endParaRPr sz="917">
              <a:latin typeface="Arial"/>
              <a:ea typeface="Arial"/>
              <a:cs typeface="Arial"/>
              <a:sym typeface="Arial"/>
            </a:endParaRPr>
          </a:p>
          <a:p>
            <a:pPr indent="0" lvl="0" marL="0" rtl="0" algn="l">
              <a:lnSpc>
                <a:spcPct val="95000"/>
              </a:lnSpc>
              <a:spcBef>
                <a:spcPts val="1200"/>
              </a:spcBef>
              <a:spcAft>
                <a:spcPts val="0"/>
              </a:spcAft>
              <a:buClr>
                <a:schemeClr val="dk1"/>
              </a:buClr>
              <a:buSzPts val="1018"/>
              <a:buFont typeface="Arial"/>
              <a:buNone/>
            </a:pPr>
            <a:r>
              <a:rPr b="1" lang="en" sz="917">
                <a:latin typeface="Arial"/>
                <a:ea typeface="Arial"/>
                <a:cs typeface="Arial"/>
                <a:sym typeface="Arial"/>
              </a:rPr>
              <a:t>Kept Fields:</a:t>
            </a:r>
            <a:endParaRPr b="1" sz="917">
              <a:latin typeface="Arial"/>
              <a:ea typeface="Arial"/>
              <a:cs typeface="Arial"/>
              <a:sym typeface="Arial"/>
            </a:endParaRPr>
          </a:p>
          <a:p>
            <a:pPr indent="-286861" lvl="0" marL="457200" rtl="0" algn="l">
              <a:lnSpc>
                <a:spcPct val="95000"/>
              </a:lnSpc>
              <a:spcBef>
                <a:spcPts val="1200"/>
              </a:spcBef>
              <a:spcAft>
                <a:spcPts val="0"/>
              </a:spcAft>
              <a:buSzPts val="918"/>
              <a:buFont typeface="Arial"/>
              <a:buChar char="●"/>
            </a:pPr>
            <a:r>
              <a:rPr lang="en" sz="917">
                <a:latin typeface="Arial"/>
                <a:ea typeface="Arial"/>
                <a:cs typeface="Arial"/>
                <a:sym typeface="Arial"/>
              </a:rPr>
              <a:t>FL_DATE</a:t>
            </a:r>
            <a:endParaRPr sz="917">
              <a:latin typeface="Arial"/>
              <a:ea typeface="Arial"/>
              <a:cs typeface="Arial"/>
              <a:sym typeface="Arial"/>
            </a:endParaRPr>
          </a:p>
          <a:p>
            <a:pPr indent="-286861" lvl="0" marL="457200" rtl="0" algn="l">
              <a:lnSpc>
                <a:spcPct val="95000"/>
              </a:lnSpc>
              <a:spcBef>
                <a:spcPts val="0"/>
              </a:spcBef>
              <a:spcAft>
                <a:spcPts val="0"/>
              </a:spcAft>
              <a:buSzPts val="918"/>
              <a:buFont typeface="Arial"/>
              <a:buChar char="●"/>
            </a:pPr>
            <a:r>
              <a:rPr lang="en" sz="917">
                <a:latin typeface="Arial"/>
                <a:ea typeface="Arial"/>
                <a:cs typeface="Arial"/>
                <a:sym typeface="Arial"/>
              </a:rPr>
              <a:t>CARRIER_CODE / CARRIER_NAME</a:t>
            </a:r>
            <a:endParaRPr sz="917">
              <a:latin typeface="Arial"/>
              <a:ea typeface="Arial"/>
              <a:cs typeface="Arial"/>
              <a:sym typeface="Arial"/>
            </a:endParaRPr>
          </a:p>
          <a:p>
            <a:pPr indent="-286861" lvl="0" marL="457200" rtl="0" algn="l">
              <a:lnSpc>
                <a:spcPct val="95000"/>
              </a:lnSpc>
              <a:spcBef>
                <a:spcPts val="0"/>
              </a:spcBef>
              <a:spcAft>
                <a:spcPts val="0"/>
              </a:spcAft>
              <a:buSzPts val="918"/>
              <a:buFont typeface="Arial"/>
              <a:buChar char="●"/>
            </a:pPr>
            <a:r>
              <a:rPr lang="en" sz="917">
                <a:latin typeface="Arial"/>
                <a:ea typeface="Arial"/>
                <a:cs typeface="Arial"/>
                <a:sym typeface="Arial"/>
              </a:rPr>
              <a:t>ORIGIN / DEST</a:t>
            </a:r>
            <a:endParaRPr sz="917">
              <a:latin typeface="Arial"/>
              <a:ea typeface="Arial"/>
              <a:cs typeface="Arial"/>
              <a:sym typeface="Arial"/>
            </a:endParaRPr>
          </a:p>
          <a:p>
            <a:pPr indent="-286861" lvl="0" marL="457200" rtl="0" algn="l">
              <a:lnSpc>
                <a:spcPct val="95000"/>
              </a:lnSpc>
              <a:spcBef>
                <a:spcPts val="0"/>
              </a:spcBef>
              <a:spcAft>
                <a:spcPts val="0"/>
              </a:spcAft>
              <a:buSzPts val="918"/>
              <a:buFont typeface="Arial"/>
              <a:buChar char="●"/>
            </a:pPr>
            <a:r>
              <a:rPr lang="en" sz="917">
                <a:latin typeface="Arial"/>
                <a:ea typeface="Arial"/>
                <a:cs typeface="Arial"/>
                <a:sym typeface="Arial"/>
              </a:rPr>
              <a:t>CRS_DEP_TIME / DEP_TIME</a:t>
            </a:r>
            <a:endParaRPr sz="917">
              <a:latin typeface="Arial"/>
              <a:ea typeface="Arial"/>
              <a:cs typeface="Arial"/>
              <a:sym typeface="Arial"/>
            </a:endParaRPr>
          </a:p>
          <a:p>
            <a:pPr indent="-286861" lvl="0" marL="457200" rtl="0" algn="l">
              <a:lnSpc>
                <a:spcPct val="95000"/>
              </a:lnSpc>
              <a:spcBef>
                <a:spcPts val="0"/>
              </a:spcBef>
              <a:spcAft>
                <a:spcPts val="0"/>
              </a:spcAft>
              <a:buSzPts val="918"/>
              <a:buFont typeface="Arial"/>
              <a:buChar char="●"/>
            </a:pPr>
            <a:r>
              <a:rPr lang="en" sz="917">
                <a:latin typeface="Arial"/>
                <a:ea typeface="Arial"/>
                <a:cs typeface="Arial"/>
                <a:sym typeface="Arial"/>
              </a:rPr>
              <a:t>CRS_ARR_TIME / ARR_TIME</a:t>
            </a:r>
            <a:endParaRPr sz="917">
              <a:latin typeface="Arial"/>
              <a:ea typeface="Arial"/>
              <a:cs typeface="Arial"/>
              <a:sym typeface="Arial"/>
            </a:endParaRPr>
          </a:p>
          <a:p>
            <a:pPr indent="-286861" lvl="0" marL="457200" rtl="0" algn="l">
              <a:lnSpc>
                <a:spcPct val="95000"/>
              </a:lnSpc>
              <a:spcBef>
                <a:spcPts val="0"/>
              </a:spcBef>
              <a:spcAft>
                <a:spcPts val="0"/>
              </a:spcAft>
              <a:buSzPts val="918"/>
              <a:buFont typeface="Arial"/>
              <a:buChar char="●"/>
            </a:pPr>
            <a:r>
              <a:rPr lang="en" sz="917">
                <a:latin typeface="Arial"/>
                <a:ea typeface="Arial"/>
                <a:cs typeface="Arial"/>
                <a:sym typeface="Arial"/>
              </a:rPr>
              <a:t>Delay components (carrier, weather, NAS, etc.)</a:t>
            </a:r>
            <a:endParaRPr sz="917">
              <a:latin typeface="Arial"/>
              <a:ea typeface="Arial"/>
              <a:cs typeface="Arial"/>
              <a:sym typeface="Arial"/>
            </a:endParaRPr>
          </a:p>
          <a:p>
            <a:pPr indent="-286861" lvl="0" marL="457200" rtl="0" algn="l">
              <a:lnSpc>
                <a:spcPct val="95000"/>
              </a:lnSpc>
              <a:spcBef>
                <a:spcPts val="0"/>
              </a:spcBef>
              <a:spcAft>
                <a:spcPts val="0"/>
              </a:spcAft>
              <a:buSzPts val="918"/>
              <a:buFont typeface="Arial"/>
              <a:buChar char="●"/>
            </a:pPr>
            <a:r>
              <a:rPr lang="en" sz="917">
                <a:latin typeface="Arial"/>
                <a:ea typeface="Arial"/>
                <a:cs typeface="Arial"/>
                <a:sym typeface="Arial"/>
              </a:rPr>
              <a:t>CANCELLED</a:t>
            </a:r>
            <a:endParaRPr sz="917">
              <a:latin typeface="Arial"/>
              <a:ea typeface="Arial"/>
              <a:cs typeface="Arial"/>
              <a:sym typeface="Arial"/>
            </a:endParaRPr>
          </a:p>
          <a:p>
            <a:pPr indent="0" lvl="0" marL="0" rtl="0" algn="l">
              <a:lnSpc>
                <a:spcPct val="95000"/>
              </a:lnSpc>
              <a:spcBef>
                <a:spcPts val="1200"/>
              </a:spcBef>
              <a:spcAft>
                <a:spcPts val="0"/>
              </a:spcAft>
              <a:buClr>
                <a:schemeClr val="dk1"/>
              </a:buClr>
              <a:buSzPts val="1018"/>
              <a:buFont typeface="Arial"/>
              <a:buNone/>
            </a:pPr>
            <a:r>
              <a:t/>
            </a:r>
            <a:endParaRPr sz="917">
              <a:latin typeface="Arial"/>
              <a:ea typeface="Arial"/>
              <a:cs typeface="Arial"/>
              <a:sym typeface="Arial"/>
            </a:endParaRPr>
          </a:p>
          <a:p>
            <a:pPr indent="0" lvl="0" marL="0" rtl="0" algn="l">
              <a:lnSpc>
                <a:spcPct val="95000"/>
              </a:lnSpc>
              <a:spcBef>
                <a:spcPts val="0"/>
              </a:spcBef>
              <a:spcAft>
                <a:spcPts val="1200"/>
              </a:spcAft>
              <a:buSzPts val="1018"/>
              <a:buNone/>
            </a:pPr>
            <a:r>
              <a:t/>
            </a:r>
            <a:endParaRPr b="1" sz="1102">
              <a:latin typeface="Arial"/>
              <a:ea typeface="Arial"/>
              <a:cs typeface="Arial"/>
              <a:sym typeface="Arial"/>
            </a:endParaRPr>
          </a:p>
        </p:txBody>
      </p:sp>
      <p:sp>
        <p:nvSpPr>
          <p:cNvPr id="114" name="Google Shape;114;p21"/>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fontScale="85000" lnSpcReduction="10000"/>
          </a:bodyPr>
          <a:lstStyle/>
          <a:p>
            <a:pPr indent="0" lvl="0" marL="0" rtl="0" algn="l">
              <a:spcBef>
                <a:spcPts val="1400"/>
              </a:spcBef>
              <a:spcAft>
                <a:spcPts val="0"/>
              </a:spcAft>
              <a:buClr>
                <a:schemeClr val="dk1"/>
              </a:buClr>
              <a:buSzPct val="84615"/>
              <a:buFont typeface="Arial"/>
              <a:buNone/>
            </a:pPr>
            <a:r>
              <a:rPr b="1" lang="en" sz="1300">
                <a:latin typeface="Arial"/>
                <a:ea typeface="Arial"/>
                <a:cs typeface="Arial"/>
                <a:sym typeface="Arial"/>
              </a:rPr>
              <a:t>Feature Engineering</a:t>
            </a:r>
            <a:endParaRPr b="1" sz="1300">
              <a:latin typeface="Arial"/>
              <a:ea typeface="Arial"/>
              <a:cs typeface="Arial"/>
              <a:sym typeface="Arial"/>
            </a:endParaRPr>
          </a:p>
          <a:p>
            <a:pPr indent="0" lvl="0" marL="0" rtl="0" algn="l">
              <a:spcBef>
                <a:spcPts val="1200"/>
              </a:spcBef>
              <a:spcAft>
                <a:spcPts val="0"/>
              </a:spcAft>
              <a:buClr>
                <a:schemeClr val="dk1"/>
              </a:buClr>
              <a:buSzPct val="100000"/>
              <a:buFont typeface="Arial"/>
              <a:buNone/>
            </a:pPr>
            <a:r>
              <a:rPr b="1" lang="en" sz="1100">
                <a:latin typeface="Arial"/>
                <a:ea typeface="Arial"/>
                <a:cs typeface="Arial"/>
                <a:sym typeface="Arial"/>
              </a:rPr>
              <a:t>TOTAL_DELAY</a:t>
            </a:r>
            <a:endParaRPr b="1" sz="1100">
              <a:latin typeface="Arial"/>
              <a:ea typeface="Arial"/>
              <a:cs typeface="Arial"/>
              <a:sym typeface="Arial"/>
            </a:endParaRPr>
          </a:p>
          <a:p>
            <a:pPr indent="-287972" lvl="0" marL="457200" rtl="0" algn="l">
              <a:spcBef>
                <a:spcPts val="1200"/>
              </a:spcBef>
              <a:spcAft>
                <a:spcPts val="0"/>
              </a:spcAft>
              <a:buSzPct val="100000"/>
              <a:buFont typeface="Arial"/>
              <a:buChar char="●"/>
            </a:pPr>
            <a:r>
              <a:rPr lang="en" sz="1100">
                <a:latin typeface="Arial"/>
                <a:ea typeface="Arial"/>
                <a:cs typeface="Arial"/>
                <a:sym typeface="Arial"/>
              </a:rPr>
              <a:t>Combines </a:t>
            </a:r>
            <a:r>
              <a:rPr b="1" lang="en" sz="1100">
                <a:latin typeface="Arial"/>
                <a:ea typeface="Arial"/>
                <a:cs typeface="Arial"/>
                <a:sym typeface="Arial"/>
              </a:rPr>
              <a:t>all delay contributors</a:t>
            </a:r>
            <a:endParaRPr b="1" sz="1100">
              <a:latin typeface="Arial"/>
              <a:ea typeface="Arial"/>
              <a:cs typeface="Arial"/>
              <a:sym typeface="Arial"/>
            </a:endParaRPr>
          </a:p>
          <a:p>
            <a:pPr indent="-287972" lvl="0" marL="457200" rtl="0" algn="l">
              <a:spcBef>
                <a:spcPts val="0"/>
              </a:spcBef>
              <a:spcAft>
                <a:spcPts val="0"/>
              </a:spcAft>
              <a:buSzPct val="100000"/>
              <a:buFont typeface="Arial"/>
              <a:buChar char="●"/>
            </a:pPr>
            <a:r>
              <a:rPr lang="en" sz="1100">
                <a:latin typeface="Arial"/>
                <a:ea typeface="Arial"/>
                <a:cs typeface="Arial"/>
                <a:sym typeface="Arial"/>
              </a:rPr>
              <a:t>Filled missing delay values with 0 for consistency</a:t>
            </a:r>
            <a:endParaRPr sz="1100">
              <a:latin typeface="Arial"/>
              <a:ea typeface="Arial"/>
              <a:cs typeface="Arial"/>
              <a:sym typeface="Arial"/>
            </a:endParaRPr>
          </a:p>
          <a:p>
            <a:pPr indent="-287972" lvl="0" marL="457200" rtl="0" algn="l">
              <a:spcBef>
                <a:spcPts val="0"/>
              </a:spcBef>
              <a:spcAft>
                <a:spcPts val="0"/>
              </a:spcAft>
              <a:buSzPct val="100000"/>
              <a:buFont typeface="Arial"/>
              <a:buChar char="●"/>
            </a:pPr>
            <a:r>
              <a:rPr lang="en" sz="1100">
                <a:latin typeface="Arial"/>
                <a:ea typeface="Arial"/>
                <a:cs typeface="Arial"/>
                <a:sym typeface="Arial"/>
              </a:rPr>
              <a:t>Allows ranking flights, carriers, and airports</a:t>
            </a:r>
            <a:endParaRPr sz="1100">
              <a:latin typeface="Arial"/>
              <a:ea typeface="Arial"/>
              <a:cs typeface="Arial"/>
              <a:sym typeface="Arial"/>
            </a:endParaRPr>
          </a:p>
          <a:p>
            <a:pPr indent="-287972" lvl="0" marL="457200" rtl="0" algn="l">
              <a:spcBef>
                <a:spcPts val="0"/>
              </a:spcBef>
              <a:spcAft>
                <a:spcPts val="0"/>
              </a:spcAft>
              <a:buSzPct val="100000"/>
              <a:buFont typeface="Arial"/>
              <a:buChar char="●"/>
            </a:pPr>
            <a:r>
              <a:rPr lang="en" sz="1100">
                <a:latin typeface="Arial"/>
                <a:ea typeface="Arial"/>
                <a:cs typeface="Arial"/>
                <a:sym typeface="Arial"/>
              </a:rPr>
              <a:t>Supports both regression and classification models</a:t>
            </a:r>
            <a:endParaRPr sz="1100">
              <a:latin typeface="Arial"/>
              <a:ea typeface="Arial"/>
              <a:cs typeface="Arial"/>
              <a:sym typeface="Arial"/>
            </a:endParaRPr>
          </a:p>
          <a:p>
            <a:pPr indent="0" lvl="0" marL="0" rtl="0" algn="l">
              <a:spcBef>
                <a:spcPts val="1200"/>
              </a:spcBef>
              <a:spcAft>
                <a:spcPts val="0"/>
              </a:spcAft>
              <a:buClr>
                <a:schemeClr val="dk1"/>
              </a:buClr>
              <a:buSzPct val="100000"/>
              <a:buFont typeface="Arial"/>
              <a:buNone/>
            </a:pPr>
            <a:r>
              <a:t/>
            </a:r>
            <a:endParaRPr sz="1100">
              <a:latin typeface="Arial"/>
              <a:ea typeface="Arial"/>
              <a:cs typeface="Arial"/>
              <a:sym typeface="Arial"/>
            </a:endParaRPr>
          </a:p>
          <a:p>
            <a:pPr indent="0" lvl="0" marL="0" rtl="0" algn="l">
              <a:spcBef>
                <a:spcPts val="1400"/>
              </a:spcBef>
              <a:spcAft>
                <a:spcPts val="0"/>
              </a:spcAft>
              <a:buClr>
                <a:schemeClr val="dk1"/>
              </a:buClr>
              <a:buSzPct val="84615"/>
              <a:buFont typeface="Arial"/>
              <a:buNone/>
            </a:pPr>
            <a:r>
              <a:rPr b="1" lang="en" sz="1300">
                <a:latin typeface="Arial"/>
                <a:ea typeface="Arial"/>
                <a:cs typeface="Arial"/>
                <a:sym typeface="Arial"/>
              </a:rPr>
              <a:t>Resulting Dataset</a:t>
            </a:r>
            <a:endParaRPr b="1" sz="1300">
              <a:latin typeface="Arial"/>
              <a:ea typeface="Arial"/>
              <a:cs typeface="Arial"/>
              <a:sym typeface="Arial"/>
            </a:endParaRPr>
          </a:p>
          <a:p>
            <a:pPr indent="-287972" lvl="0" marL="457200" rtl="0" algn="l">
              <a:spcBef>
                <a:spcPts val="1200"/>
              </a:spcBef>
              <a:spcAft>
                <a:spcPts val="0"/>
              </a:spcAft>
              <a:buSzPct val="100000"/>
              <a:buFont typeface="Arial"/>
              <a:buChar char="●"/>
            </a:pPr>
            <a:r>
              <a:rPr lang="en" sz="1100">
                <a:latin typeface="Arial"/>
                <a:ea typeface="Arial"/>
                <a:cs typeface="Arial"/>
                <a:sym typeface="Arial"/>
              </a:rPr>
              <a:t>Cleaned, standardized, and enriched</a:t>
            </a:r>
            <a:endParaRPr sz="1100">
              <a:latin typeface="Arial"/>
              <a:ea typeface="Arial"/>
              <a:cs typeface="Arial"/>
              <a:sym typeface="Arial"/>
            </a:endParaRPr>
          </a:p>
          <a:p>
            <a:pPr indent="-287972" lvl="0" marL="457200" rtl="0" algn="l">
              <a:spcBef>
                <a:spcPts val="0"/>
              </a:spcBef>
              <a:spcAft>
                <a:spcPts val="0"/>
              </a:spcAft>
              <a:buSzPct val="100000"/>
              <a:buFont typeface="Arial"/>
              <a:buChar char="●"/>
            </a:pPr>
            <a:r>
              <a:rPr lang="en" sz="1100">
                <a:latin typeface="Arial"/>
                <a:ea typeface="Arial"/>
                <a:cs typeface="Arial"/>
                <a:sym typeface="Arial"/>
              </a:rPr>
              <a:t>Contains only analytically meaningful variables</a:t>
            </a:r>
            <a:endParaRPr sz="1100">
              <a:latin typeface="Arial"/>
              <a:ea typeface="Arial"/>
              <a:cs typeface="Arial"/>
              <a:sym typeface="Arial"/>
            </a:endParaRPr>
          </a:p>
          <a:p>
            <a:pPr indent="-287972" lvl="0" marL="457200" rtl="0" algn="l">
              <a:spcBef>
                <a:spcPts val="0"/>
              </a:spcBef>
              <a:spcAft>
                <a:spcPts val="0"/>
              </a:spcAft>
              <a:buSzPct val="100000"/>
              <a:buFont typeface="Arial"/>
              <a:buChar char="●"/>
            </a:pPr>
            <a:r>
              <a:rPr lang="en" sz="1100">
                <a:latin typeface="Arial"/>
                <a:ea typeface="Arial"/>
                <a:cs typeface="Arial"/>
                <a:sym typeface="Arial"/>
              </a:rPr>
              <a:t>Ready for modeling, dashboards, and performance analysis</a:t>
            </a:r>
            <a:endParaRPr sz="1100">
              <a:latin typeface="Arial"/>
              <a:ea typeface="Arial"/>
              <a:cs typeface="Arial"/>
              <a:sym typeface="Arial"/>
            </a:endParaRPr>
          </a:p>
          <a:p>
            <a:pPr indent="0" lvl="0" marL="0" rtl="0" algn="l">
              <a:spcBef>
                <a:spcPts val="1200"/>
              </a:spcBef>
              <a:spcAft>
                <a:spcPts val="0"/>
              </a:spcAft>
              <a:buClr>
                <a:schemeClr val="dk1"/>
              </a:buClr>
              <a:buSzPct val="84615"/>
              <a:buFont typeface="Arial"/>
              <a:buNone/>
            </a:pPr>
            <a:r>
              <a:t/>
            </a:r>
            <a:endParaRPr b="1" sz="13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71739"/>
              <a:buFont typeface="Arial"/>
              <a:buNone/>
            </a:pPr>
            <a:r>
              <a:rPr b="1" lang="en" sz="1533">
                <a:solidFill>
                  <a:srgbClr val="212529"/>
                </a:solidFill>
                <a:highlight>
                  <a:srgbClr val="F8F9FA"/>
                </a:highlight>
                <a:latin typeface="Arial"/>
                <a:ea typeface="Arial"/>
                <a:cs typeface="Arial"/>
                <a:sym typeface="Arial"/>
              </a:rPr>
              <a:t>- Data </a:t>
            </a:r>
            <a:r>
              <a:rPr b="1" lang="en" sz="1533">
                <a:solidFill>
                  <a:srgbClr val="212529"/>
                </a:solidFill>
                <a:highlight>
                  <a:srgbClr val="F8F9FA"/>
                </a:highlight>
                <a:latin typeface="Arial"/>
                <a:ea typeface="Arial"/>
                <a:cs typeface="Arial"/>
                <a:sym typeface="Arial"/>
              </a:rPr>
              <a:t>Transformation</a:t>
            </a:r>
            <a:endParaRPr b="1" sz="1533">
              <a:solidFill>
                <a:srgbClr val="212529"/>
              </a:solidFill>
              <a:highlight>
                <a:srgbClr val="F8F9FA"/>
              </a:highlight>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120" name="Google Shape;120;p22"/>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298450" lvl="0" marL="457200" rtl="0" algn="l">
              <a:lnSpc>
                <a:spcPct val="180000"/>
              </a:lnSpc>
              <a:spcBef>
                <a:spcPts val="0"/>
              </a:spcBef>
              <a:spcAft>
                <a:spcPts val="0"/>
              </a:spcAft>
              <a:buClr>
                <a:schemeClr val="dk1"/>
              </a:buClr>
              <a:buSzPts val="1100"/>
              <a:buFont typeface="Arial"/>
              <a:buChar char="●"/>
            </a:pPr>
            <a:r>
              <a:rPr lang="en" sz="1100">
                <a:latin typeface="Arial"/>
                <a:ea typeface="Arial"/>
                <a:cs typeface="Arial"/>
                <a:sym typeface="Arial"/>
              </a:rPr>
              <a:t>Examined all variables and verified data types</a:t>
            </a:r>
            <a:endParaRPr sz="1100">
              <a:latin typeface="Arial"/>
              <a:ea typeface="Arial"/>
              <a:cs typeface="Arial"/>
              <a:sym typeface="Arial"/>
            </a:endParaRPr>
          </a:p>
          <a:p>
            <a:pPr indent="-298450" lvl="0" marL="457200" rtl="0" algn="l">
              <a:lnSpc>
                <a:spcPct val="180000"/>
              </a:lnSpc>
              <a:spcBef>
                <a:spcPts val="0"/>
              </a:spcBef>
              <a:spcAft>
                <a:spcPts val="0"/>
              </a:spcAft>
              <a:buClr>
                <a:schemeClr val="dk1"/>
              </a:buClr>
              <a:buSzPts val="1100"/>
              <a:buFont typeface="Arial"/>
              <a:buChar char="●"/>
            </a:pPr>
            <a:r>
              <a:rPr lang="en" sz="1100">
                <a:latin typeface="Arial"/>
                <a:ea typeface="Arial"/>
                <a:cs typeface="Arial"/>
                <a:sym typeface="Arial"/>
              </a:rPr>
              <a:t>Ordinal encoding for categorical features</a:t>
            </a:r>
            <a:endParaRPr sz="1100">
              <a:latin typeface="Arial"/>
              <a:ea typeface="Arial"/>
              <a:cs typeface="Arial"/>
              <a:sym typeface="Arial"/>
            </a:endParaRPr>
          </a:p>
          <a:p>
            <a:pPr indent="-298450" lvl="0" marL="457200" rtl="0" algn="l">
              <a:lnSpc>
                <a:spcPct val="180000"/>
              </a:lnSpc>
              <a:spcBef>
                <a:spcPts val="0"/>
              </a:spcBef>
              <a:spcAft>
                <a:spcPts val="0"/>
              </a:spcAft>
              <a:buClr>
                <a:schemeClr val="dk1"/>
              </a:buClr>
              <a:buSzPts val="1100"/>
              <a:buFont typeface="Arial"/>
              <a:buChar char="●"/>
            </a:pPr>
            <a:r>
              <a:rPr lang="en" sz="1100">
                <a:latin typeface="Arial"/>
                <a:ea typeface="Arial"/>
                <a:cs typeface="Arial"/>
                <a:sym typeface="Arial"/>
              </a:rPr>
              <a:t>80/20 train-test split</a:t>
            </a:r>
            <a:endParaRPr sz="1100">
              <a:latin typeface="Arial"/>
              <a:ea typeface="Arial"/>
              <a:cs typeface="Arial"/>
              <a:sym typeface="Arial"/>
            </a:endParaRPr>
          </a:p>
          <a:p>
            <a:pPr indent="-298450" lvl="0" marL="457200" rtl="0" algn="l">
              <a:lnSpc>
                <a:spcPct val="180000"/>
              </a:lnSpc>
              <a:spcBef>
                <a:spcPts val="0"/>
              </a:spcBef>
              <a:spcAft>
                <a:spcPts val="0"/>
              </a:spcAft>
              <a:buClr>
                <a:schemeClr val="dk1"/>
              </a:buClr>
              <a:buSzPts val="1100"/>
              <a:buFont typeface="Arial"/>
              <a:buChar char="●"/>
            </a:pPr>
            <a:r>
              <a:rPr lang="en" sz="1100">
                <a:latin typeface="Arial"/>
                <a:ea typeface="Arial"/>
                <a:cs typeface="Arial"/>
                <a:sym typeface="Arial"/>
              </a:rPr>
              <a:t>Removed redundant and low-correlation features</a:t>
            </a:r>
            <a:endParaRPr sz="1100">
              <a:latin typeface="Arial"/>
              <a:ea typeface="Arial"/>
              <a:cs typeface="Arial"/>
              <a:sym typeface="Arial"/>
            </a:endParaRPr>
          </a:p>
          <a:p>
            <a:pPr indent="0" lvl="0" marL="0" rtl="0" algn="l">
              <a:spcBef>
                <a:spcPts val="0"/>
              </a:spcBef>
              <a:spcAft>
                <a:spcPts val="1200"/>
              </a:spcAft>
              <a:buNone/>
            </a:pPr>
            <a:r>
              <a:t/>
            </a:r>
            <a:endParaRPr/>
          </a:p>
        </p:txBody>
      </p:sp>
      <p:pic>
        <p:nvPicPr>
          <p:cNvPr descr="Data Blue Technology Texture Blocks Square Text (Provided by Getty Images)" id="121" name="Google Shape;121;p22"/>
          <p:cNvPicPr preferRelativeResize="0"/>
          <p:nvPr/>
        </p:nvPicPr>
        <p:blipFill>
          <a:blip r:embed="rId3">
            <a:alphaModFix/>
          </a:blip>
          <a:stretch>
            <a:fillRect/>
          </a:stretch>
        </p:blipFill>
        <p:spPr>
          <a:xfrm>
            <a:off x="5115400" y="746825"/>
            <a:ext cx="3821972" cy="38219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n" sz="1300">
                <a:solidFill>
                  <a:srgbClr val="212529"/>
                </a:solidFill>
                <a:highlight>
                  <a:srgbClr val="F8F9FA"/>
                </a:highlight>
                <a:latin typeface="Arial"/>
                <a:ea typeface="Arial"/>
                <a:cs typeface="Arial"/>
                <a:sym typeface="Arial"/>
              </a:rPr>
              <a:t>- Challenges on data transformation</a:t>
            </a:r>
            <a:endParaRPr b="1" sz="3100">
              <a:latin typeface="Arial"/>
              <a:ea typeface="Arial"/>
              <a:cs typeface="Arial"/>
              <a:sym typeface="Arial"/>
            </a:endParaRPr>
          </a:p>
        </p:txBody>
      </p:sp>
      <p:sp>
        <p:nvSpPr>
          <p:cNvPr id="127" name="Google Shape;127;p23"/>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298450" lvl="0" marL="457200" rtl="0" algn="l">
              <a:lnSpc>
                <a:spcPct val="180000"/>
              </a:lnSpc>
              <a:spcBef>
                <a:spcPts val="0"/>
              </a:spcBef>
              <a:spcAft>
                <a:spcPts val="0"/>
              </a:spcAft>
              <a:buClr>
                <a:schemeClr val="dk1"/>
              </a:buClr>
              <a:buSzPts val="1100"/>
              <a:buFont typeface="Old Standard TT"/>
              <a:buChar char="●"/>
            </a:pPr>
            <a:r>
              <a:rPr lang="en" sz="1100"/>
              <a:t>Encoding categorical features</a:t>
            </a:r>
            <a:endParaRPr sz="1100"/>
          </a:p>
          <a:p>
            <a:pPr indent="-298450" lvl="0" marL="457200" rtl="0" algn="l">
              <a:lnSpc>
                <a:spcPct val="180000"/>
              </a:lnSpc>
              <a:spcBef>
                <a:spcPts val="0"/>
              </a:spcBef>
              <a:spcAft>
                <a:spcPts val="0"/>
              </a:spcAft>
              <a:buClr>
                <a:schemeClr val="dk1"/>
              </a:buClr>
              <a:buSzPts val="1100"/>
              <a:buFont typeface="Old Standard TT"/>
              <a:buChar char="●"/>
            </a:pPr>
            <a:r>
              <a:rPr lang="en" sz="1100"/>
              <a:t>Deciding on relevant features</a:t>
            </a:r>
            <a:endParaRPr sz="1100"/>
          </a:p>
          <a:p>
            <a:pPr indent="0" lvl="0" marL="457200" rtl="0" algn="l">
              <a:lnSpc>
                <a:spcPct val="180000"/>
              </a:lnSpc>
              <a:spcBef>
                <a:spcPts val="0"/>
              </a:spcBef>
              <a:spcAft>
                <a:spcPts val="0"/>
              </a:spcAft>
              <a:buNone/>
            </a:pPr>
            <a:r>
              <a:t/>
            </a:r>
            <a:endParaRPr/>
          </a:p>
        </p:txBody>
      </p:sp>
      <p:pic>
        <p:nvPicPr>
          <p:cNvPr descr="Two puzzle pieces form human head thin line icon. Puzzle male heads symbol, outline style pictogram on white background. Creative business sign for mobile concept and web design. Vector graphics. (Provided by Getty Images)" id="128" name="Google Shape;128;p23"/>
          <p:cNvPicPr preferRelativeResize="0"/>
          <p:nvPr/>
        </p:nvPicPr>
        <p:blipFill rotWithShape="1">
          <a:blip r:embed="rId3">
            <a:alphaModFix/>
          </a:blip>
          <a:srcRect b="-13058" l="-6575" r="0" t="0"/>
          <a:stretch/>
        </p:blipFill>
        <p:spPr>
          <a:xfrm>
            <a:off x="4241250" y="483575"/>
            <a:ext cx="3421251" cy="3629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SzPts val="1100"/>
              <a:buChar char="-"/>
            </a:pPr>
            <a:r>
              <a:rPr lang="en" sz="1100"/>
              <a:t>Correlation heatmap</a:t>
            </a:r>
            <a:endParaRPr/>
          </a:p>
        </p:txBody>
      </p:sp>
      <p:pic>
        <p:nvPicPr>
          <p:cNvPr id="134" name="Google Shape;134;p24" title="download (2).png"/>
          <p:cNvPicPr preferRelativeResize="0"/>
          <p:nvPr/>
        </p:nvPicPr>
        <p:blipFill>
          <a:blip r:embed="rId3">
            <a:alphaModFix/>
          </a:blip>
          <a:stretch>
            <a:fillRect/>
          </a:stretch>
        </p:blipFill>
        <p:spPr>
          <a:xfrm>
            <a:off x="686700" y="1339250"/>
            <a:ext cx="3806826" cy="2942875"/>
          </a:xfrm>
          <a:prstGeom prst="rect">
            <a:avLst/>
          </a:prstGeom>
          <a:noFill/>
          <a:ln>
            <a:noFill/>
          </a:ln>
        </p:spPr>
      </p:pic>
      <p:pic>
        <p:nvPicPr>
          <p:cNvPr id="135" name="Google Shape;135;p24" title="download (3).png"/>
          <p:cNvPicPr preferRelativeResize="0"/>
          <p:nvPr/>
        </p:nvPicPr>
        <p:blipFill>
          <a:blip r:embed="rId4">
            <a:alphaModFix/>
          </a:blip>
          <a:stretch>
            <a:fillRect/>
          </a:stretch>
        </p:blipFill>
        <p:spPr>
          <a:xfrm>
            <a:off x="4685850" y="1339250"/>
            <a:ext cx="3716724" cy="2873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264375" y="145250"/>
            <a:ext cx="8520600" cy="613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en" sz="1380">
                <a:solidFill>
                  <a:srgbClr val="212529"/>
                </a:solidFill>
                <a:highlight>
                  <a:srgbClr val="F8F9FA"/>
                </a:highlight>
              </a:rPr>
              <a:t>- Data visualization and ETL</a:t>
            </a:r>
            <a:endParaRPr sz="1380">
              <a:solidFill>
                <a:srgbClr val="212529"/>
              </a:solidFill>
              <a:highlight>
                <a:srgbClr val="F8F9FA"/>
              </a:highlight>
            </a:endParaRPr>
          </a:p>
          <a:p>
            <a:pPr indent="0" lvl="0" marL="0" rtl="0" algn="l">
              <a:lnSpc>
                <a:spcPct val="115000"/>
              </a:lnSpc>
              <a:spcBef>
                <a:spcPts val="1200"/>
              </a:spcBef>
              <a:spcAft>
                <a:spcPts val="0"/>
              </a:spcAft>
              <a:buClr>
                <a:schemeClr val="dk1"/>
              </a:buClr>
              <a:buSzPts val="990"/>
              <a:buFont typeface="Arial"/>
              <a:buNone/>
            </a:pPr>
            <a:r>
              <a:t/>
            </a:r>
            <a:endParaRPr sz="1290"/>
          </a:p>
          <a:p>
            <a:pPr indent="0" lvl="0" marL="0" rtl="0" algn="l">
              <a:spcBef>
                <a:spcPts val="0"/>
              </a:spcBef>
              <a:spcAft>
                <a:spcPts val="0"/>
              </a:spcAft>
              <a:buSzPts val="990"/>
              <a:buNone/>
            </a:pPr>
            <a:r>
              <a:t/>
            </a:r>
            <a:endParaRPr/>
          </a:p>
        </p:txBody>
      </p:sp>
      <p:sp>
        <p:nvSpPr>
          <p:cNvPr id="141" name="Google Shape;141;p25"/>
          <p:cNvSpPr txBox="1"/>
          <p:nvPr>
            <p:ph idx="1" type="body"/>
          </p:nvPr>
        </p:nvSpPr>
        <p:spPr>
          <a:xfrm>
            <a:off x="5790375" y="1187225"/>
            <a:ext cx="3139800" cy="2567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n" sz="1217"/>
              <a:t>Delay Probability by Airline (Bar Chart)</a:t>
            </a:r>
            <a:endParaRPr sz="1217"/>
          </a:p>
          <a:p>
            <a:pPr indent="0" lvl="0" marL="0" rtl="0" algn="l">
              <a:lnSpc>
                <a:spcPct val="105000"/>
              </a:lnSpc>
              <a:spcBef>
                <a:spcPts val="1200"/>
              </a:spcBef>
              <a:spcAft>
                <a:spcPts val="0"/>
              </a:spcAft>
              <a:buSzPts val="523"/>
              <a:buNone/>
            </a:pPr>
            <a:r>
              <a:rPr lang="en" sz="1217"/>
              <a:t>X-axis → Airline </a:t>
            </a:r>
            <a:endParaRPr sz="1217"/>
          </a:p>
          <a:p>
            <a:pPr indent="0" lvl="0" marL="0" rtl="0" algn="l">
              <a:lnSpc>
                <a:spcPct val="105000"/>
              </a:lnSpc>
              <a:spcBef>
                <a:spcPts val="1200"/>
              </a:spcBef>
              <a:spcAft>
                <a:spcPts val="0"/>
              </a:spcAft>
              <a:buSzPts val="523"/>
              <a:buNone/>
            </a:pPr>
            <a:r>
              <a:rPr lang="en" sz="1217"/>
              <a:t>Y-axis → Delay Probability </a:t>
            </a:r>
            <a:endParaRPr sz="1217"/>
          </a:p>
          <a:p>
            <a:pPr indent="0" lvl="0" marL="0" rtl="0" algn="l">
              <a:lnSpc>
                <a:spcPct val="105000"/>
              </a:lnSpc>
              <a:spcBef>
                <a:spcPts val="1200"/>
              </a:spcBef>
              <a:spcAft>
                <a:spcPts val="0"/>
              </a:spcAft>
              <a:buSzPts val="523"/>
              <a:buNone/>
            </a:pPr>
            <a:r>
              <a:t/>
            </a:r>
            <a:endParaRPr sz="1217"/>
          </a:p>
          <a:p>
            <a:pPr indent="0" lvl="0" marL="0" rtl="0" algn="l">
              <a:lnSpc>
                <a:spcPct val="105000"/>
              </a:lnSpc>
              <a:spcBef>
                <a:spcPts val="1200"/>
              </a:spcBef>
              <a:spcAft>
                <a:spcPts val="0"/>
              </a:spcAft>
              <a:buSzPts val="523"/>
              <a:buNone/>
            </a:pPr>
            <a:r>
              <a:rPr lang="en" sz="1217"/>
              <a:t>Conclusion: </a:t>
            </a:r>
            <a:endParaRPr sz="1217"/>
          </a:p>
          <a:p>
            <a:pPr indent="-305911" lvl="0" marL="457200" rtl="0" algn="l">
              <a:lnSpc>
                <a:spcPct val="105000"/>
              </a:lnSpc>
              <a:spcBef>
                <a:spcPts val="1200"/>
              </a:spcBef>
              <a:spcAft>
                <a:spcPts val="0"/>
              </a:spcAft>
              <a:buSzPts val="1218"/>
              <a:buChar char="-"/>
            </a:pPr>
            <a:r>
              <a:rPr lang="en" sz="1217"/>
              <a:t>Some Airlines experience greater delays than others. </a:t>
            </a:r>
            <a:endParaRPr sz="1417"/>
          </a:p>
        </p:txBody>
      </p:sp>
      <p:pic>
        <p:nvPicPr>
          <p:cNvPr id="142" name="Google Shape;142;p25"/>
          <p:cNvPicPr preferRelativeResize="0"/>
          <p:nvPr/>
        </p:nvPicPr>
        <p:blipFill>
          <a:blip r:embed="rId3">
            <a:alphaModFix/>
          </a:blip>
          <a:stretch>
            <a:fillRect/>
          </a:stretch>
        </p:blipFill>
        <p:spPr>
          <a:xfrm>
            <a:off x="82925" y="822950"/>
            <a:ext cx="5597001" cy="321213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153925" y="105800"/>
            <a:ext cx="8520600" cy="613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990"/>
              <a:buFont typeface="Arial"/>
              <a:buNone/>
            </a:pPr>
            <a:r>
              <a:rPr lang="en" sz="1380">
                <a:solidFill>
                  <a:srgbClr val="212529"/>
                </a:solidFill>
                <a:highlight>
                  <a:srgbClr val="F8F9FA"/>
                </a:highlight>
              </a:rPr>
              <a:t>- Data visualization and ETL</a:t>
            </a:r>
            <a:endParaRPr/>
          </a:p>
        </p:txBody>
      </p:sp>
      <p:sp>
        <p:nvSpPr>
          <p:cNvPr id="148" name="Google Shape;148;p26"/>
          <p:cNvSpPr txBox="1"/>
          <p:nvPr>
            <p:ph idx="1" type="body"/>
          </p:nvPr>
        </p:nvSpPr>
        <p:spPr>
          <a:xfrm>
            <a:off x="6169050" y="777200"/>
            <a:ext cx="2813100" cy="342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300"/>
              <a:t>Distribution of Carrier Delay Minutes (Histogram)</a:t>
            </a:r>
            <a:endParaRPr sz="1300"/>
          </a:p>
          <a:p>
            <a:pPr indent="0" lvl="0" marL="0" rtl="0" algn="l">
              <a:spcBef>
                <a:spcPts val="1200"/>
              </a:spcBef>
              <a:spcAft>
                <a:spcPts val="0"/>
              </a:spcAft>
              <a:buClr>
                <a:schemeClr val="dk1"/>
              </a:buClr>
              <a:buSzPts val="1100"/>
              <a:buFont typeface="Arial"/>
              <a:buNone/>
            </a:pPr>
            <a:r>
              <a:rPr lang="en" sz="1300"/>
              <a:t>X-axis → CARRIER_DELAY (minutes)</a:t>
            </a:r>
            <a:endParaRPr sz="1300"/>
          </a:p>
          <a:p>
            <a:pPr indent="0" lvl="0" marL="0" rtl="0" algn="l">
              <a:spcBef>
                <a:spcPts val="1200"/>
              </a:spcBef>
              <a:spcAft>
                <a:spcPts val="0"/>
              </a:spcAft>
              <a:buNone/>
            </a:pPr>
            <a:r>
              <a:rPr lang="en" sz="1300"/>
              <a:t>Y-axis → Number of Flights</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rPr lang="en" sz="1300"/>
              <a:t>Conclusion: </a:t>
            </a:r>
            <a:endParaRPr sz="1300"/>
          </a:p>
          <a:p>
            <a:pPr indent="-311150" lvl="0" marL="457200" rtl="0" algn="l">
              <a:spcBef>
                <a:spcPts val="1200"/>
              </a:spcBef>
              <a:spcAft>
                <a:spcPts val="0"/>
              </a:spcAft>
              <a:buSzPts val="1300"/>
              <a:buChar char="-"/>
            </a:pPr>
            <a:r>
              <a:rPr lang="en" sz="1300"/>
              <a:t>Most flights leave on time but a large number experience delays as well</a:t>
            </a:r>
            <a:endParaRPr sz="1300"/>
          </a:p>
        </p:txBody>
      </p:sp>
      <p:pic>
        <p:nvPicPr>
          <p:cNvPr id="149" name="Google Shape;149;p26"/>
          <p:cNvPicPr preferRelativeResize="0"/>
          <p:nvPr/>
        </p:nvPicPr>
        <p:blipFill>
          <a:blip r:embed="rId3">
            <a:alphaModFix/>
          </a:blip>
          <a:stretch>
            <a:fillRect/>
          </a:stretch>
        </p:blipFill>
        <p:spPr>
          <a:xfrm>
            <a:off x="153925" y="1092300"/>
            <a:ext cx="5864249" cy="327528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106575" y="121575"/>
            <a:ext cx="8520600" cy="613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990"/>
              <a:buFont typeface="Arial"/>
              <a:buNone/>
            </a:pPr>
            <a:r>
              <a:rPr lang="en" sz="1380">
                <a:solidFill>
                  <a:srgbClr val="212529"/>
                </a:solidFill>
                <a:highlight>
                  <a:srgbClr val="F8F9FA"/>
                </a:highlight>
              </a:rPr>
              <a:t>- Data visualization and ETL</a:t>
            </a:r>
            <a:endParaRPr/>
          </a:p>
        </p:txBody>
      </p:sp>
      <p:sp>
        <p:nvSpPr>
          <p:cNvPr id="155" name="Google Shape;155;p27"/>
          <p:cNvSpPr txBox="1"/>
          <p:nvPr/>
        </p:nvSpPr>
        <p:spPr>
          <a:xfrm>
            <a:off x="6019150" y="859900"/>
            <a:ext cx="3000000" cy="322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1"/>
                </a:solidFill>
                <a:latin typeface="Old Standard TT"/>
                <a:ea typeface="Old Standard TT"/>
                <a:cs typeface="Old Standard TT"/>
                <a:sym typeface="Old Standard TT"/>
              </a:rPr>
              <a:t>Delay Rate by Day of The Week (Bar Chart)</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sz="1300">
                <a:solidFill>
                  <a:schemeClr val="dk1"/>
                </a:solidFill>
                <a:latin typeface="Old Standard TT"/>
                <a:ea typeface="Old Standard TT"/>
                <a:cs typeface="Old Standard TT"/>
                <a:sym typeface="Old Standard TT"/>
              </a:rPr>
              <a:t>X-axis → DAY_OF_WEEK (0=Sunday, 6=Saturday)</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sz="1300">
                <a:solidFill>
                  <a:schemeClr val="dk1"/>
                </a:solidFill>
                <a:latin typeface="Old Standard TT"/>
                <a:ea typeface="Old Standard TT"/>
                <a:cs typeface="Old Standard TT"/>
                <a:sym typeface="Old Standard TT"/>
              </a:rPr>
              <a:t>Y-axis → Delay Probability</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sz="1300">
                <a:solidFill>
                  <a:schemeClr val="dk1"/>
                </a:solidFill>
                <a:latin typeface="Old Standard TT"/>
                <a:ea typeface="Old Standard TT"/>
                <a:cs typeface="Old Standard TT"/>
                <a:sym typeface="Old Standard TT"/>
              </a:rPr>
              <a:t>Conclusion: </a:t>
            </a:r>
            <a:endParaRPr sz="1300">
              <a:solidFill>
                <a:schemeClr val="dk1"/>
              </a:solidFill>
              <a:latin typeface="Old Standard TT"/>
              <a:ea typeface="Old Standard TT"/>
              <a:cs typeface="Old Standard TT"/>
              <a:sym typeface="Old Standard TT"/>
            </a:endParaRPr>
          </a:p>
          <a:p>
            <a:pPr indent="-311150" lvl="0" marL="457200" rtl="0" algn="l">
              <a:lnSpc>
                <a:spcPct val="115000"/>
              </a:lnSpc>
              <a:spcBef>
                <a:spcPts val="1200"/>
              </a:spcBef>
              <a:spcAft>
                <a:spcPts val="0"/>
              </a:spcAft>
              <a:buClr>
                <a:schemeClr val="dk1"/>
              </a:buClr>
              <a:buSzPts val="1300"/>
              <a:buFont typeface="Old Standard TT"/>
              <a:buChar char="-"/>
            </a:pPr>
            <a:r>
              <a:rPr lang="en" sz="1300">
                <a:solidFill>
                  <a:schemeClr val="dk1"/>
                </a:solidFill>
                <a:latin typeface="Old Standard TT"/>
                <a:ea typeface="Old Standard TT"/>
                <a:cs typeface="Old Standard TT"/>
                <a:sym typeface="Old Standard TT"/>
              </a:rPr>
              <a:t>Delays are more likely to occur on Sundays, </a:t>
            </a:r>
            <a:r>
              <a:rPr lang="en" sz="1300">
                <a:solidFill>
                  <a:schemeClr val="dk1"/>
                </a:solidFill>
                <a:latin typeface="Old Standard TT"/>
                <a:ea typeface="Old Standard TT"/>
                <a:cs typeface="Old Standard TT"/>
                <a:sym typeface="Old Standard TT"/>
              </a:rPr>
              <a:t>Wednesdays, Thursdays and Saturdays</a:t>
            </a:r>
            <a:endParaRPr sz="1300">
              <a:solidFill>
                <a:schemeClr val="dk1"/>
              </a:solidFill>
              <a:latin typeface="Old Standard TT"/>
              <a:ea typeface="Old Standard TT"/>
              <a:cs typeface="Old Standard TT"/>
              <a:sym typeface="Old Standard TT"/>
            </a:endParaRPr>
          </a:p>
        </p:txBody>
      </p:sp>
      <p:pic>
        <p:nvPicPr>
          <p:cNvPr id="156" name="Google Shape;156;p27"/>
          <p:cNvPicPr preferRelativeResize="0"/>
          <p:nvPr/>
        </p:nvPicPr>
        <p:blipFill>
          <a:blip r:embed="rId3">
            <a:alphaModFix/>
          </a:blip>
          <a:stretch>
            <a:fillRect/>
          </a:stretch>
        </p:blipFill>
        <p:spPr>
          <a:xfrm>
            <a:off x="106575" y="768875"/>
            <a:ext cx="5714350" cy="383932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138150" y="113675"/>
            <a:ext cx="8520600" cy="613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380">
                <a:solidFill>
                  <a:srgbClr val="212529"/>
                </a:solidFill>
                <a:highlight>
                  <a:srgbClr val="F8F9FA"/>
                </a:highlight>
              </a:rPr>
              <a:t>- Data visualization and ETL</a:t>
            </a:r>
            <a:endParaRPr/>
          </a:p>
        </p:txBody>
      </p:sp>
      <p:sp>
        <p:nvSpPr>
          <p:cNvPr id="162" name="Google Shape;162;p28"/>
          <p:cNvSpPr txBox="1"/>
          <p:nvPr/>
        </p:nvSpPr>
        <p:spPr>
          <a:xfrm>
            <a:off x="6027025" y="726875"/>
            <a:ext cx="3000000" cy="360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1"/>
                </a:solidFill>
                <a:latin typeface="Old Standard TT"/>
                <a:ea typeface="Old Standard TT"/>
                <a:cs typeface="Old Standard TT"/>
                <a:sym typeface="Old Standard TT"/>
              </a:rPr>
              <a:t>Carrier Delay vs Arrival Delay (Scatter Plot)</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sz="1300">
                <a:solidFill>
                  <a:schemeClr val="dk1"/>
                </a:solidFill>
                <a:latin typeface="Old Standard TT"/>
                <a:ea typeface="Old Standard TT"/>
                <a:cs typeface="Old Standard TT"/>
                <a:sym typeface="Old Standard TT"/>
              </a:rPr>
              <a:t>X-axis → CARRIER_DELAY (minutes)</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sz="1300">
                <a:solidFill>
                  <a:schemeClr val="dk1"/>
                </a:solidFill>
                <a:latin typeface="Old Standard TT"/>
                <a:ea typeface="Old Standard TT"/>
                <a:cs typeface="Old Standard TT"/>
                <a:sym typeface="Old Standard TT"/>
              </a:rPr>
              <a:t>Y-axis → ARR_DELAY (minutes)</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sz="1300">
                <a:solidFill>
                  <a:schemeClr val="dk1"/>
                </a:solidFill>
                <a:latin typeface="Old Standard TT"/>
                <a:ea typeface="Old Standard TT"/>
                <a:cs typeface="Old Standard TT"/>
                <a:sym typeface="Old Standard TT"/>
              </a:rPr>
              <a:t>Conclusion: </a:t>
            </a:r>
            <a:endParaRPr sz="1300">
              <a:solidFill>
                <a:schemeClr val="dk1"/>
              </a:solidFill>
              <a:latin typeface="Old Standard TT"/>
              <a:ea typeface="Old Standard TT"/>
              <a:cs typeface="Old Standard TT"/>
              <a:sym typeface="Old Standard TT"/>
            </a:endParaRPr>
          </a:p>
          <a:p>
            <a:pPr indent="-311150" lvl="0" marL="457200" rtl="0" algn="l">
              <a:lnSpc>
                <a:spcPct val="115000"/>
              </a:lnSpc>
              <a:spcBef>
                <a:spcPts val="1200"/>
              </a:spcBef>
              <a:spcAft>
                <a:spcPts val="0"/>
              </a:spcAft>
              <a:buClr>
                <a:schemeClr val="dk1"/>
              </a:buClr>
              <a:buSzPts val="1300"/>
              <a:buFont typeface="Old Standard TT"/>
              <a:buChar char="-"/>
            </a:pPr>
            <a:r>
              <a:rPr lang="en" sz="1300">
                <a:solidFill>
                  <a:schemeClr val="dk1"/>
                </a:solidFill>
                <a:latin typeface="Old Standard TT"/>
                <a:ea typeface="Old Standard TT"/>
                <a:cs typeface="Old Standard TT"/>
                <a:sym typeface="Old Standard TT"/>
              </a:rPr>
              <a:t>Bigger shift towards Arrival Delay, Delay occurs as the airplane is about to land. </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1200"/>
              </a:spcAft>
              <a:buNone/>
            </a:pPr>
            <a:r>
              <a:t/>
            </a:r>
            <a:endParaRPr sz="1300">
              <a:solidFill>
                <a:schemeClr val="dk1"/>
              </a:solidFill>
              <a:latin typeface="Old Standard TT"/>
              <a:ea typeface="Old Standard TT"/>
              <a:cs typeface="Old Standard TT"/>
              <a:sym typeface="Old Standard TT"/>
            </a:endParaRPr>
          </a:p>
        </p:txBody>
      </p:sp>
      <p:pic>
        <p:nvPicPr>
          <p:cNvPr id="163" name="Google Shape;163;p28"/>
          <p:cNvPicPr preferRelativeResize="0"/>
          <p:nvPr/>
        </p:nvPicPr>
        <p:blipFill>
          <a:blip r:embed="rId3">
            <a:alphaModFix/>
          </a:blip>
          <a:stretch>
            <a:fillRect/>
          </a:stretch>
        </p:blipFill>
        <p:spPr>
          <a:xfrm>
            <a:off x="138150" y="611050"/>
            <a:ext cx="5722224" cy="367530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153925" y="105800"/>
            <a:ext cx="8520600" cy="613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380">
                <a:solidFill>
                  <a:srgbClr val="212529"/>
                </a:solidFill>
                <a:highlight>
                  <a:srgbClr val="F8F9FA"/>
                </a:highlight>
              </a:rPr>
              <a:t>- Data visualization and ETL</a:t>
            </a:r>
            <a:endParaRPr/>
          </a:p>
        </p:txBody>
      </p:sp>
      <p:sp>
        <p:nvSpPr>
          <p:cNvPr id="169" name="Google Shape;169;p29"/>
          <p:cNvSpPr txBox="1"/>
          <p:nvPr/>
        </p:nvSpPr>
        <p:spPr>
          <a:xfrm>
            <a:off x="6050700" y="719000"/>
            <a:ext cx="3000000" cy="368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1"/>
                </a:solidFill>
                <a:latin typeface="Old Standard TT"/>
                <a:ea typeface="Old Standard TT"/>
                <a:cs typeface="Old Standard TT"/>
                <a:sym typeface="Old Standard TT"/>
              </a:rPr>
              <a:t>Weather Delay Distribution (Density Plot)</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sz="1300">
                <a:solidFill>
                  <a:schemeClr val="dk1"/>
                </a:solidFill>
                <a:latin typeface="Old Standard TT"/>
                <a:ea typeface="Old Standard TT"/>
                <a:cs typeface="Old Standard TT"/>
                <a:sym typeface="Old Standard TT"/>
              </a:rPr>
              <a:t>X-axis → WEATHER_DELAY (minutes)</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sz="1300">
                <a:solidFill>
                  <a:schemeClr val="dk1"/>
                </a:solidFill>
                <a:latin typeface="Old Standard TT"/>
                <a:ea typeface="Old Standard TT"/>
                <a:cs typeface="Old Standard TT"/>
                <a:sym typeface="Old Standard TT"/>
              </a:rPr>
              <a:t>Y-axis → Density (Probability)</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t/>
            </a:r>
            <a:endParaRPr sz="13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sz="1300">
                <a:solidFill>
                  <a:schemeClr val="dk1"/>
                </a:solidFill>
                <a:latin typeface="Old Standard TT"/>
                <a:ea typeface="Old Standard TT"/>
                <a:cs typeface="Old Standard TT"/>
                <a:sym typeface="Old Standard TT"/>
              </a:rPr>
              <a:t>Conclusion:</a:t>
            </a:r>
            <a:endParaRPr sz="1300">
              <a:solidFill>
                <a:schemeClr val="dk1"/>
              </a:solidFill>
              <a:latin typeface="Old Standard TT"/>
              <a:ea typeface="Old Standard TT"/>
              <a:cs typeface="Old Standard TT"/>
              <a:sym typeface="Old Standard TT"/>
            </a:endParaRPr>
          </a:p>
          <a:p>
            <a:pPr indent="-311150" lvl="0" marL="457200" rtl="0" algn="l">
              <a:lnSpc>
                <a:spcPct val="115000"/>
              </a:lnSpc>
              <a:spcBef>
                <a:spcPts val="1200"/>
              </a:spcBef>
              <a:spcAft>
                <a:spcPts val="0"/>
              </a:spcAft>
              <a:buClr>
                <a:schemeClr val="dk1"/>
              </a:buClr>
              <a:buSzPts val="1300"/>
              <a:buFont typeface="Old Standard TT"/>
              <a:buChar char="-"/>
            </a:pPr>
            <a:r>
              <a:rPr lang="en" sz="1300">
                <a:solidFill>
                  <a:schemeClr val="dk1"/>
                </a:solidFill>
                <a:latin typeface="Old Standard TT"/>
                <a:ea typeface="Old Standard TT"/>
                <a:cs typeface="Old Standard TT"/>
                <a:sym typeface="Old Standard TT"/>
              </a:rPr>
              <a:t>Conclusion</a:t>
            </a:r>
            <a:r>
              <a:rPr lang="en" sz="1300">
                <a:solidFill>
                  <a:schemeClr val="dk1"/>
                </a:solidFill>
                <a:latin typeface="Old Standard TT"/>
                <a:ea typeface="Old Standard TT"/>
                <a:cs typeface="Old Standard TT"/>
                <a:sym typeface="Old Standard TT"/>
              </a:rPr>
              <a:t> unlike what we thought weather-factor didn’t cause much delays on flights. Most flights managed to be on time. </a:t>
            </a:r>
            <a:endParaRPr sz="1300">
              <a:solidFill>
                <a:schemeClr val="dk1"/>
              </a:solidFill>
              <a:latin typeface="Old Standard TT"/>
              <a:ea typeface="Old Standard TT"/>
              <a:cs typeface="Old Standard TT"/>
              <a:sym typeface="Old Standard TT"/>
            </a:endParaRPr>
          </a:p>
        </p:txBody>
      </p:sp>
      <p:pic>
        <p:nvPicPr>
          <p:cNvPr id="170" name="Google Shape;170;p29"/>
          <p:cNvPicPr preferRelativeResize="0"/>
          <p:nvPr/>
        </p:nvPicPr>
        <p:blipFill>
          <a:blip r:embed="rId3">
            <a:alphaModFix/>
          </a:blip>
          <a:stretch>
            <a:fillRect/>
          </a:stretch>
        </p:blipFill>
        <p:spPr>
          <a:xfrm>
            <a:off x="153925" y="719000"/>
            <a:ext cx="5745900" cy="364148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1200">
                <a:solidFill>
                  <a:srgbClr val="212529"/>
                </a:solidFill>
                <a:highlight>
                  <a:srgbClr val="F8F9FA"/>
                </a:highlight>
              </a:rPr>
              <a:t>Modelling and deploying the model with your application</a:t>
            </a:r>
            <a:endParaRPr sz="1200">
              <a:solidFill>
                <a:srgbClr val="212529"/>
              </a:solidFill>
              <a:highlight>
                <a:srgbClr val="F8F9FA"/>
              </a:highlight>
            </a:endParaRPr>
          </a:p>
          <a:p>
            <a:pPr indent="0" lvl="0" marL="0" rtl="0" algn="l">
              <a:spcBef>
                <a:spcPts val="1200"/>
              </a:spcBef>
              <a:spcAft>
                <a:spcPts val="0"/>
              </a:spcAft>
              <a:buNone/>
            </a:pPr>
            <a:r>
              <a:t/>
            </a:r>
            <a:endParaRPr/>
          </a:p>
        </p:txBody>
      </p:sp>
      <p:sp>
        <p:nvSpPr>
          <p:cNvPr id="176" name="Google Shape;176;p30"/>
          <p:cNvSpPr txBox="1"/>
          <p:nvPr>
            <p:ph idx="1" type="body"/>
          </p:nvPr>
        </p:nvSpPr>
        <p:spPr>
          <a:xfrm>
            <a:off x="311700" y="821600"/>
            <a:ext cx="4081800" cy="4114800"/>
          </a:xfrm>
          <a:prstGeom prst="rect">
            <a:avLst/>
          </a:prstGeom>
        </p:spPr>
        <p:txBody>
          <a:bodyPr anchorCtr="0" anchor="t" bIns="91425" lIns="91425" spcFirstLastPara="1" rIns="91425" wrap="square" tIns="91425">
            <a:noAutofit/>
          </a:bodyPr>
          <a:lstStyle/>
          <a:p>
            <a:pPr indent="0" lvl="0" marL="0" rtl="0" algn="l">
              <a:lnSpc>
                <a:spcPct val="105000"/>
              </a:lnSpc>
              <a:spcBef>
                <a:spcPts val="1400"/>
              </a:spcBef>
              <a:spcAft>
                <a:spcPts val="0"/>
              </a:spcAft>
              <a:buClr>
                <a:schemeClr val="dk1"/>
              </a:buClr>
              <a:buSzPts val="358"/>
              <a:buFont typeface="Arial"/>
              <a:buNone/>
            </a:pPr>
            <a:r>
              <a:rPr b="1" lang="en" sz="700">
                <a:latin typeface="Arial"/>
                <a:ea typeface="Arial"/>
                <a:cs typeface="Arial"/>
                <a:sym typeface="Arial"/>
              </a:rPr>
              <a:t>1. Model Used</a:t>
            </a:r>
            <a:endParaRPr b="1" sz="700">
              <a:latin typeface="Arial"/>
              <a:ea typeface="Arial"/>
              <a:cs typeface="Arial"/>
              <a:sym typeface="Arial"/>
            </a:endParaRPr>
          </a:p>
          <a:p>
            <a:pPr indent="-273050" lvl="0" marL="457200" rtl="0" algn="l">
              <a:lnSpc>
                <a:spcPct val="105000"/>
              </a:lnSpc>
              <a:spcBef>
                <a:spcPts val="1200"/>
              </a:spcBef>
              <a:spcAft>
                <a:spcPts val="0"/>
              </a:spcAft>
              <a:buSzPts val="700"/>
              <a:buFont typeface="Arial"/>
              <a:buChar char="●"/>
            </a:pPr>
            <a:r>
              <a:rPr b="1" lang="en" sz="700">
                <a:latin typeface="Arial"/>
                <a:ea typeface="Arial"/>
                <a:cs typeface="Arial"/>
                <a:sym typeface="Arial"/>
              </a:rPr>
              <a:t>Decision Tree Classifier</a:t>
            </a:r>
            <a:br>
              <a:rPr b="1" lang="en" sz="700">
                <a:latin typeface="Arial"/>
                <a:ea typeface="Arial"/>
                <a:cs typeface="Arial"/>
                <a:sym typeface="Arial"/>
              </a:rPr>
            </a:br>
            <a:endParaRPr b="1"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Simple, fast, and works well with tabular flight data</a:t>
            </a:r>
            <a:br>
              <a:rPr lang="en" sz="700">
                <a:latin typeface="Arial"/>
                <a:ea typeface="Arial"/>
                <a:cs typeface="Arial"/>
                <a:sym typeface="Arial"/>
              </a:rPr>
            </a:br>
            <a:endParaRPr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Handles numerical + encoded categorical features</a:t>
            </a:r>
            <a:br>
              <a:rPr lang="en" sz="700">
                <a:latin typeface="Arial"/>
                <a:ea typeface="Arial"/>
                <a:cs typeface="Arial"/>
                <a:sym typeface="Arial"/>
              </a:rPr>
            </a:br>
            <a:endParaRPr sz="700">
              <a:latin typeface="Arial"/>
              <a:ea typeface="Arial"/>
              <a:cs typeface="Arial"/>
              <a:sym typeface="Arial"/>
            </a:endParaRPr>
          </a:p>
          <a:p>
            <a:pPr indent="0" lvl="0" marL="0" rtl="0" algn="l">
              <a:lnSpc>
                <a:spcPct val="105000"/>
              </a:lnSpc>
              <a:spcBef>
                <a:spcPts val="1400"/>
              </a:spcBef>
              <a:spcAft>
                <a:spcPts val="0"/>
              </a:spcAft>
              <a:buClr>
                <a:schemeClr val="dk1"/>
              </a:buClr>
              <a:buSzPts val="358"/>
              <a:buFont typeface="Arial"/>
              <a:buNone/>
            </a:pPr>
            <a:r>
              <a:rPr b="1" lang="en" sz="700">
                <a:latin typeface="Arial"/>
                <a:ea typeface="Arial"/>
                <a:cs typeface="Arial"/>
                <a:sym typeface="Arial"/>
              </a:rPr>
              <a:t>2. Baseline Model (Before Cleaning)</a:t>
            </a:r>
            <a:endParaRPr b="1" sz="700">
              <a:latin typeface="Arial"/>
              <a:ea typeface="Arial"/>
              <a:cs typeface="Arial"/>
              <a:sym typeface="Arial"/>
            </a:endParaRPr>
          </a:p>
          <a:p>
            <a:pPr indent="-273050" lvl="0" marL="457200" rtl="0" algn="l">
              <a:lnSpc>
                <a:spcPct val="105000"/>
              </a:lnSpc>
              <a:spcBef>
                <a:spcPts val="1200"/>
              </a:spcBef>
              <a:spcAft>
                <a:spcPts val="0"/>
              </a:spcAft>
              <a:buSzPts val="700"/>
              <a:buFont typeface="Arial"/>
              <a:buChar char="●"/>
            </a:pPr>
            <a:r>
              <a:rPr lang="en" sz="700">
                <a:latin typeface="Arial"/>
                <a:ea typeface="Arial"/>
                <a:cs typeface="Arial"/>
                <a:sym typeface="Arial"/>
              </a:rPr>
              <a:t>Trained on raw integrated dataset</a:t>
            </a:r>
            <a:br>
              <a:rPr lang="en" sz="700">
                <a:latin typeface="Arial"/>
                <a:ea typeface="Arial"/>
                <a:cs typeface="Arial"/>
                <a:sym typeface="Arial"/>
              </a:rPr>
            </a:br>
            <a:endParaRPr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Minimal encoding (Carrier, Origin, Destination, CRS Dep Time)</a:t>
            </a:r>
            <a:br>
              <a:rPr lang="en" sz="700">
                <a:latin typeface="Arial"/>
                <a:ea typeface="Arial"/>
                <a:cs typeface="Arial"/>
                <a:sym typeface="Arial"/>
              </a:rPr>
            </a:br>
            <a:endParaRPr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b="1" lang="en" sz="700">
                <a:latin typeface="Arial"/>
                <a:ea typeface="Arial"/>
                <a:cs typeface="Arial"/>
                <a:sym typeface="Arial"/>
              </a:rPr>
              <a:t>Accuracy: 0.78</a:t>
            </a:r>
            <a:br>
              <a:rPr b="1" lang="en" sz="700">
                <a:latin typeface="Arial"/>
                <a:ea typeface="Arial"/>
                <a:cs typeface="Arial"/>
                <a:sym typeface="Arial"/>
              </a:rPr>
            </a:br>
            <a:endParaRPr b="1"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b="1" lang="en" sz="700">
                <a:latin typeface="Arial"/>
                <a:ea typeface="Arial"/>
                <a:cs typeface="Arial"/>
                <a:sym typeface="Arial"/>
              </a:rPr>
              <a:t>F1 Score: 0.00</a:t>
            </a:r>
            <a:br>
              <a:rPr b="1" lang="en" sz="700">
                <a:latin typeface="Arial"/>
                <a:ea typeface="Arial"/>
                <a:cs typeface="Arial"/>
                <a:sym typeface="Arial"/>
              </a:rPr>
            </a:br>
            <a:endParaRPr b="1"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Low performance due to noise, missing values, and imbalanced labels</a:t>
            </a:r>
            <a:br>
              <a:rPr lang="en" sz="700">
                <a:latin typeface="Arial"/>
                <a:ea typeface="Arial"/>
                <a:cs typeface="Arial"/>
                <a:sym typeface="Arial"/>
              </a:rPr>
            </a:br>
            <a:endParaRPr sz="700">
              <a:latin typeface="Arial"/>
              <a:ea typeface="Arial"/>
              <a:cs typeface="Arial"/>
              <a:sym typeface="Arial"/>
            </a:endParaRPr>
          </a:p>
          <a:p>
            <a:pPr indent="0" lvl="0" marL="0" rtl="0" algn="l">
              <a:lnSpc>
                <a:spcPct val="105000"/>
              </a:lnSpc>
              <a:spcBef>
                <a:spcPts val="1400"/>
              </a:spcBef>
              <a:spcAft>
                <a:spcPts val="0"/>
              </a:spcAft>
              <a:buSzPts val="358"/>
              <a:buNone/>
            </a:pPr>
            <a:r>
              <a:rPr b="1" lang="en" sz="700">
                <a:latin typeface="Arial"/>
                <a:ea typeface="Arial"/>
                <a:cs typeface="Arial"/>
                <a:sym typeface="Arial"/>
              </a:rPr>
              <a:t>3. Final Model (After Cleaning &amp; Transformation)</a:t>
            </a:r>
            <a:endParaRPr b="1" sz="700">
              <a:latin typeface="Arial"/>
              <a:ea typeface="Arial"/>
              <a:cs typeface="Arial"/>
              <a:sym typeface="Arial"/>
            </a:endParaRPr>
          </a:p>
          <a:p>
            <a:pPr indent="-273050" lvl="0" marL="457200" rtl="0" algn="l">
              <a:lnSpc>
                <a:spcPct val="105000"/>
              </a:lnSpc>
              <a:spcBef>
                <a:spcPts val="1200"/>
              </a:spcBef>
              <a:spcAft>
                <a:spcPts val="0"/>
              </a:spcAft>
              <a:buSzPts val="700"/>
              <a:buFont typeface="Arial"/>
              <a:buChar char="●"/>
            </a:pPr>
            <a:r>
              <a:rPr lang="en" sz="700">
                <a:latin typeface="Arial"/>
                <a:ea typeface="Arial"/>
                <a:cs typeface="Arial"/>
                <a:sym typeface="Arial"/>
              </a:rPr>
              <a:t>Trained on cleaned, encoded, and consistent dataset</a:t>
            </a:r>
            <a:br>
              <a:rPr lang="en" sz="700">
                <a:latin typeface="Arial"/>
                <a:ea typeface="Arial"/>
                <a:cs typeface="Arial"/>
                <a:sym typeface="Arial"/>
              </a:rPr>
            </a:br>
            <a:endParaRPr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Nulls removed, outliers reduced, proper encoding applied</a:t>
            </a:r>
            <a:br>
              <a:rPr lang="en" sz="700">
                <a:latin typeface="Arial"/>
                <a:ea typeface="Arial"/>
                <a:cs typeface="Arial"/>
                <a:sym typeface="Arial"/>
              </a:rPr>
            </a:br>
            <a:endParaRPr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b="1" lang="en" sz="700">
                <a:latin typeface="Arial"/>
                <a:ea typeface="Arial"/>
                <a:cs typeface="Arial"/>
                <a:sym typeface="Arial"/>
              </a:rPr>
              <a:t>Accuracy: 0.95</a:t>
            </a:r>
            <a:br>
              <a:rPr b="1" lang="en" sz="700">
                <a:latin typeface="Arial"/>
                <a:ea typeface="Arial"/>
                <a:cs typeface="Arial"/>
                <a:sym typeface="Arial"/>
              </a:rPr>
            </a:br>
            <a:endParaRPr b="1"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b="1" lang="en" sz="700">
                <a:latin typeface="Arial"/>
                <a:ea typeface="Arial"/>
                <a:cs typeface="Arial"/>
                <a:sym typeface="Arial"/>
              </a:rPr>
              <a:t>F1 Score: 0.91</a:t>
            </a:r>
            <a:br>
              <a:rPr b="1" lang="en" sz="700">
                <a:latin typeface="Arial"/>
                <a:ea typeface="Arial"/>
                <a:cs typeface="Arial"/>
                <a:sym typeface="Arial"/>
              </a:rPr>
            </a:br>
            <a:endParaRPr b="1"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Large improvement once data was fully prepared</a:t>
            </a:r>
            <a:endParaRPr sz="700">
              <a:latin typeface="Arial"/>
              <a:ea typeface="Arial"/>
              <a:cs typeface="Arial"/>
              <a:sym typeface="Arial"/>
            </a:endParaRPr>
          </a:p>
          <a:p>
            <a:pPr indent="0" lvl="0" marL="0" rtl="0" algn="l">
              <a:lnSpc>
                <a:spcPct val="105000"/>
              </a:lnSpc>
              <a:spcBef>
                <a:spcPts val="1200"/>
              </a:spcBef>
              <a:spcAft>
                <a:spcPts val="1200"/>
              </a:spcAft>
              <a:buSzPts val="358"/>
              <a:buNone/>
            </a:pPr>
            <a:r>
              <a:t/>
            </a:r>
            <a:endParaRPr b="1" sz="7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91666"/>
              <a:buFont typeface="Arial"/>
              <a:buNone/>
            </a:pPr>
            <a:r>
              <a:rPr lang="en" sz="1200">
                <a:solidFill>
                  <a:srgbClr val="212529"/>
                </a:solidFill>
                <a:highlight>
                  <a:srgbClr val="F8F9FA"/>
                </a:highlight>
              </a:rPr>
              <a:t>Modelling and deploying the model with your application 2</a:t>
            </a:r>
            <a:endParaRPr sz="1200">
              <a:solidFill>
                <a:srgbClr val="212529"/>
              </a:solidFill>
              <a:highlight>
                <a:srgbClr val="F8F9FA"/>
              </a:highlight>
            </a:endParaRPr>
          </a:p>
          <a:p>
            <a:pPr indent="0" lvl="0" marL="0" rtl="0" algn="l">
              <a:spcBef>
                <a:spcPts val="1200"/>
              </a:spcBef>
              <a:spcAft>
                <a:spcPts val="0"/>
              </a:spcAft>
              <a:buNone/>
            </a:pPr>
            <a:r>
              <a:t/>
            </a:r>
            <a:endParaRPr/>
          </a:p>
        </p:txBody>
      </p:sp>
      <p:sp>
        <p:nvSpPr>
          <p:cNvPr id="182" name="Google Shape;182;p31"/>
          <p:cNvSpPr txBox="1"/>
          <p:nvPr>
            <p:ph idx="1" type="body"/>
          </p:nvPr>
        </p:nvSpPr>
        <p:spPr>
          <a:xfrm>
            <a:off x="311700" y="905900"/>
            <a:ext cx="4401900" cy="3669300"/>
          </a:xfrm>
          <a:prstGeom prst="rect">
            <a:avLst/>
          </a:prstGeom>
        </p:spPr>
        <p:txBody>
          <a:bodyPr anchorCtr="0" anchor="t" bIns="91425" lIns="91425" spcFirstLastPara="1" rIns="91425" wrap="square" tIns="91425">
            <a:noAutofit/>
          </a:bodyPr>
          <a:lstStyle/>
          <a:p>
            <a:pPr indent="0" lvl="0" marL="0" rtl="0" algn="l">
              <a:lnSpc>
                <a:spcPct val="105000"/>
              </a:lnSpc>
              <a:spcBef>
                <a:spcPts val="1400"/>
              </a:spcBef>
              <a:spcAft>
                <a:spcPts val="0"/>
              </a:spcAft>
              <a:buClr>
                <a:schemeClr val="dk1"/>
              </a:buClr>
              <a:buSzPts val="440"/>
              <a:buFont typeface="Arial"/>
              <a:buNone/>
            </a:pPr>
            <a:r>
              <a:rPr b="1" lang="en" sz="700">
                <a:latin typeface="Arial"/>
                <a:ea typeface="Arial"/>
                <a:cs typeface="Arial"/>
                <a:sym typeface="Arial"/>
              </a:rPr>
              <a:t>4. Key Findings</a:t>
            </a:r>
            <a:endParaRPr b="1" sz="700">
              <a:latin typeface="Arial"/>
              <a:ea typeface="Arial"/>
              <a:cs typeface="Arial"/>
              <a:sym typeface="Arial"/>
            </a:endParaRPr>
          </a:p>
          <a:p>
            <a:pPr indent="-273050" lvl="0" marL="457200" rtl="0" algn="l">
              <a:lnSpc>
                <a:spcPct val="105000"/>
              </a:lnSpc>
              <a:spcBef>
                <a:spcPts val="1200"/>
              </a:spcBef>
              <a:spcAft>
                <a:spcPts val="0"/>
              </a:spcAft>
              <a:buSzPts val="700"/>
              <a:buFont typeface="Arial"/>
              <a:buChar char="●"/>
            </a:pPr>
            <a:r>
              <a:rPr lang="en" sz="700">
                <a:latin typeface="Arial"/>
                <a:ea typeface="Arial"/>
                <a:cs typeface="Arial"/>
                <a:sym typeface="Arial"/>
              </a:rPr>
              <a:t>Data cleaning and transformation had the biggest impact</a:t>
            </a:r>
            <a:br>
              <a:rPr lang="en" sz="700">
                <a:latin typeface="Arial"/>
                <a:ea typeface="Arial"/>
                <a:cs typeface="Arial"/>
                <a:sym typeface="Arial"/>
              </a:rPr>
            </a:br>
            <a:endParaRPr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Delay-related features (NAS, Late Aircraft, ARR_DELAY) were strong predictors</a:t>
            </a:r>
            <a:br>
              <a:rPr lang="en" sz="700">
                <a:latin typeface="Arial"/>
                <a:ea typeface="Arial"/>
                <a:cs typeface="Arial"/>
                <a:sym typeface="Arial"/>
              </a:rPr>
            </a:br>
            <a:endParaRPr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Decision Tree learned clear patterns in historical delays</a:t>
            </a:r>
            <a:br>
              <a:rPr lang="en" sz="700">
                <a:latin typeface="Arial"/>
                <a:ea typeface="Arial"/>
                <a:cs typeface="Arial"/>
                <a:sym typeface="Arial"/>
              </a:rPr>
            </a:br>
            <a:endParaRPr sz="700">
              <a:latin typeface="Arial"/>
              <a:ea typeface="Arial"/>
              <a:cs typeface="Arial"/>
              <a:sym typeface="Arial"/>
            </a:endParaRPr>
          </a:p>
          <a:p>
            <a:pPr indent="0" lvl="0" marL="0" rtl="0" algn="l">
              <a:lnSpc>
                <a:spcPct val="105000"/>
              </a:lnSpc>
              <a:spcBef>
                <a:spcPts val="1400"/>
              </a:spcBef>
              <a:spcAft>
                <a:spcPts val="0"/>
              </a:spcAft>
              <a:buClr>
                <a:schemeClr val="dk1"/>
              </a:buClr>
              <a:buSzPts val="440"/>
              <a:buFont typeface="Arial"/>
              <a:buNone/>
            </a:pPr>
            <a:r>
              <a:rPr b="1" lang="en" sz="700">
                <a:latin typeface="Arial"/>
                <a:ea typeface="Arial"/>
                <a:cs typeface="Arial"/>
                <a:sym typeface="Arial"/>
              </a:rPr>
              <a:t>5. Deployment</a:t>
            </a:r>
            <a:endParaRPr b="1" sz="700">
              <a:latin typeface="Arial"/>
              <a:ea typeface="Arial"/>
              <a:cs typeface="Arial"/>
              <a:sym typeface="Arial"/>
            </a:endParaRPr>
          </a:p>
          <a:p>
            <a:pPr indent="-273050" lvl="0" marL="457200" rtl="0" algn="l">
              <a:lnSpc>
                <a:spcPct val="105000"/>
              </a:lnSpc>
              <a:spcBef>
                <a:spcPts val="1200"/>
              </a:spcBef>
              <a:spcAft>
                <a:spcPts val="0"/>
              </a:spcAft>
              <a:buSzPts val="700"/>
              <a:buFont typeface="Arial"/>
              <a:buChar char="●"/>
            </a:pPr>
            <a:r>
              <a:rPr lang="en" sz="700">
                <a:latin typeface="Arial"/>
                <a:ea typeface="Arial"/>
                <a:cs typeface="Arial"/>
                <a:sym typeface="Arial"/>
              </a:rPr>
              <a:t>Built a prediction function that takes one flight’s details</a:t>
            </a:r>
            <a:br>
              <a:rPr lang="en" sz="700">
                <a:latin typeface="Arial"/>
                <a:ea typeface="Arial"/>
                <a:cs typeface="Arial"/>
                <a:sym typeface="Arial"/>
              </a:rPr>
            </a:br>
            <a:endParaRPr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Returns </a:t>
            </a:r>
            <a:r>
              <a:rPr b="1" lang="en" sz="700">
                <a:latin typeface="Arial"/>
                <a:ea typeface="Arial"/>
                <a:cs typeface="Arial"/>
                <a:sym typeface="Arial"/>
              </a:rPr>
              <a:t>“Delayed”</a:t>
            </a:r>
            <a:r>
              <a:rPr lang="en" sz="700">
                <a:latin typeface="Arial"/>
                <a:ea typeface="Arial"/>
                <a:cs typeface="Arial"/>
                <a:sym typeface="Arial"/>
              </a:rPr>
              <a:t> or </a:t>
            </a:r>
            <a:r>
              <a:rPr b="1" lang="en" sz="700">
                <a:latin typeface="Arial"/>
                <a:ea typeface="Arial"/>
                <a:cs typeface="Arial"/>
                <a:sym typeface="Arial"/>
              </a:rPr>
              <a:t>“On Time”</a:t>
            </a:r>
            <a:br>
              <a:rPr b="1" lang="en" sz="700">
                <a:latin typeface="Arial"/>
                <a:ea typeface="Arial"/>
                <a:cs typeface="Arial"/>
                <a:sym typeface="Arial"/>
              </a:rPr>
            </a:br>
            <a:endParaRPr b="1"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Example outputs:</a:t>
            </a:r>
            <a:br>
              <a:rPr lang="en" sz="700">
                <a:latin typeface="Arial"/>
                <a:ea typeface="Arial"/>
                <a:cs typeface="Arial"/>
                <a:sym typeface="Arial"/>
              </a:rPr>
            </a:br>
            <a:endParaRPr sz="700">
              <a:latin typeface="Arial"/>
              <a:ea typeface="Arial"/>
              <a:cs typeface="Arial"/>
              <a:sym typeface="Arial"/>
            </a:endParaRPr>
          </a:p>
          <a:p>
            <a:pPr indent="-273050" lvl="1" marL="914400" rtl="0" algn="l">
              <a:lnSpc>
                <a:spcPct val="105000"/>
              </a:lnSpc>
              <a:spcBef>
                <a:spcPts val="0"/>
              </a:spcBef>
              <a:spcAft>
                <a:spcPts val="0"/>
              </a:spcAft>
              <a:buSzPts val="700"/>
              <a:buFont typeface="Arial"/>
              <a:buChar char="○"/>
            </a:pPr>
            <a:r>
              <a:rPr lang="en" sz="700">
                <a:latin typeface="Arial"/>
                <a:ea typeface="Arial"/>
                <a:cs typeface="Arial"/>
                <a:sym typeface="Arial"/>
              </a:rPr>
              <a:t>Example 1 → </a:t>
            </a:r>
            <a:r>
              <a:rPr b="1" lang="en" sz="700">
                <a:latin typeface="Arial"/>
                <a:ea typeface="Arial"/>
                <a:cs typeface="Arial"/>
                <a:sym typeface="Arial"/>
              </a:rPr>
              <a:t>Delayed</a:t>
            </a:r>
            <a:br>
              <a:rPr b="1" lang="en" sz="700">
                <a:latin typeface="Arial"/>
                <a:ea typeface="Arial"/>
                <a:cs typeface="Arial"/>
                <a:sym typeface="Arial"/>
              </a:rPr>
            </a:br>
            <a:endParaRPr b="1" sz="700">
              <a:latin typeface="Arial"/>
              <a:ea typeface="Arial"/>
              <a:cs typeface="Arial"/>
              <a:sym typeface="Arial"/>
            </a:endParaRPr>
          </a:p>
          <a:p>
            <a:pPr indent="-273050" lvl="1" marL="914400" rtl="0" algn="l">
              <a:lnSpc>
                <a:spcPct val="105000"/>
              </a:lnSpc>
              <a:spcBef>
                <a:spcPts val="0"/>
              </a:spcBef>
              <a:spcAft>
                <a:spcPts val="0"/>
              </a:spcAft>
              <a:buSzPts val="700"/>
              <a:buFont typeface="Arial"/>
              <a:buChar char="○"/>
            </a:pPr>
            <a:r>
              <a:rPr lang="en" sz="700">
                <a:latin typeface="Arial"/>
                <a:ea typeface="Arial"/>
                <a:cs typeface="Arial"/>
                <a:sym typeface="Arial"/>
              </a:rPr>
              <a:t>Example 2 → </a:t>
            </a:r>
            <a:r>
              <a:rPr b="1" lang="en" sz="700">
                <a:latin typeface="Arial"/>
                <a:ea typeface="Arial"/>
                <a:cs typeface="Arial"/>
                <a:sym typeface="Arial"/>
              </a:rPr>
              <a:t>On Time</a:t>
            </a:r>
            <a:br>
              <a:rPr b="1" lang="en" sz="700">
                <a:latin typeface="Arial"/>
                <a:ea typeface="Arial"/>
                <a:cs typeface="Arial"/>
                <a:sym typeface="Arial"/>
              </a:rPr>
            </a:br>
            <a:endParaRPr b="1" sz="700">
              <a:latin typeface="Arial"/>
              <a:ea typeface="Arial"/>
              <a:cs typeface="Arial"/>
              <a:sym typeface="Arial"/>
            </a:endParaRPr>
          </a:p>
          <a:p>
            <a:pPr indent="0" lvl="0" marL="0" rtl="0" algn="l">
              <a:lnSpc>
                <a:spcPct val="105000"/>
              </a:lnSpc>
              <a:spcBef>
                <a:spcPts val="1400"/>
              </a:spcBef>
              <a:spcAft>
                <a:spcPts val="0"/>
              </a:spcAft>
              <a:buClr>
                <a:schemeClr val="dk1"/>
              </a:buClr>
              <a:buSzPts val="440"/>
              <a:buFont typeface="Arial"/>
              <a:buNone/>
            </a:pPr>
            <a:r>
              <a:rPr b="1" lang="en" sz="700">
                <a:latin typeface="Arial"/>
                <a:ea typeface="Arial"/>
                <a:cs typeface="Arial"/>
                <a:sym typeface="Arial"/>
              </a:rPr>
              <a:t>6. Final Result</a:t>
            </a:r>
            <a:endParaRPr b="1" sz="700">
              <a:latin typeface="Arial"/>
              <a:ea typeface="Arial"/>
              <a:cs typeface="Arial"/>
              <a:sym typeface="Arial"/>
            </a:endParaRPr>
          </a:p>
          <a:p>
            <a:pPr indent="-273050" lvl="0" marL="457200" rtl="0" algn="l">
              <a:lnSpc>
                <a:spcPct val="105000"/>
              </a:lnSpc>
              <a:spcBef>
                <a:spcPts val="1200"/>
              </a:spcBef>
              <a:spcAft>
                <a:spcPts val="0"/>
              </a:spcAft>
              <a:buSzPts val="700"/>
              <a:buFont typeface="Arial"/>
              <a:buChar char="●"/>
            </a:pPr>
            <a:r>
              <a:rPr lang="en" sz="700">
                <a:latin typeface="Arial"/>
                <a:ea typeface="Arial"/>
                <a:cs typeface="Arial"/>
                <a:sym typeface="Arial"/>
              </a:rPr>
              <a:t>Full pipeline works end-to-end (integration → cleaning → transformation → modeling → prediction)</a:t>
            </a:r>
            <a:br>
              <a:rPr lang="en" sz="700">
                <a:latin typeface="Arial"/>
                <a:ea typeface="Arial"/>
                <a:cs typeface="Arial"/>
                <a:sym typeface="Arial"/>
              </a:rPr>
            </a:br>
            <a:endParaRPr sz="700">
              <a:latin typeface="Arial"/>
              <a:ea typeface="Arial"/>
              <a:cs typeface="Arial"/>
              <a:sym typeface="Arial"/>
            </a:endParaRPr>
          </a:p>
          <a:p>
            <a:pPr indent="-273050" lvl="0" marL="457200" rtl="0" algn="l">
              <a:lnSpc>
                <a:spcPct val="105000"/>
              </a:lnSpc>
              <a:spcBef>
                <a:spcPts val="0"/>
              </a:spcBef>
              <a:spcAft>
                <a:spcPts val="0"/>
              </a:spcAft>
              <a:buSzPts val="700"/>
              <a:buFont typeface="Arial"/>
              <a:buChar char="●"/>
            </a:pPr>
            <a:r>
              <a:rPr lang="en" sz="700">
                <a:latin typeface="Arial"/>
                <a:ea typeface="Arial"/>
                <a:cs typeface="Arial"/>
                <a:sym typeface="Arial"/>
              </a:rPr>
              <a:t>Model is accurate, consistent, and can be expanded with more features or advanced models later</a:t>
            </a:r>
            <a:endParaRPr sz="700">
              <a:latin typeface="Arial"/>
              <a:ea typeface="Arial"/>
              <a:cs typeface="Arial"/>
              <a:sym typeface="Arial"/>
            </a:endParaRPr>
          </a:p>
          <a:p>
            <a:pPr indent="0" lvl="0" marL="0" rtl="0" algn="l">
              <a:lnSpc>
                <a:spcPct val="105000"/>
              </a:lnSpc>
              <a:spcBef>
                <a:spcPts val="1200"/>
              </a:spcBef>
              <a:spcAft>
                <a:spcPts val="1200"/>
              </a:spcAft>
              <a:buSzPts val="440"/>
              <a:buNone/>
            </a:pPr>
            <a:r>
              <a:t/>
            </a:r>
            <a:endParaRPr b="1" sz="7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